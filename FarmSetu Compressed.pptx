
<file path=[Content_Types].xml><?xml version="1.0" encoding="utf-8"?>
<Types xmlns="http://schemas.openxmlformats.org/package/2006/content-types">
  <Default ContentType="application/x-fontdata" Extension="fntdata"/>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presentationml.presentation.main+xml" PartName="/ppt/presentation.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theme+xml" PartName="/ppt/theme/theme1.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theme+xml" PartName="/ppt/theme/theme2.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package.core-properties+xml" PartName="/docProps/core.xml"/>
  <Override ContentType="application/vnd.openxmlformats-officedocument.extended-properties+xml" PartName="/docProps/app.xml"/>
  <Default ContentType="image/jpeg" Extension="jpeg"/>
  <Override ContentType="application/vnd.openxmlformats-officedocument.custom-properties+xml" PartName="/docProps/custom.xml"/>
</Types>
</file>

<file path=_rels/.rels><?xml version="1.0" encoding="UTF-8" standalone="yes" ?><Relationships xmlns="http://schemas.openxmlformats.org/package/2006/relationships"><Relationship Id="rId3" Target="docProps/app.xml" Type="http://schemas.openxmlformats.org/officeDocument/2006/relationships/extended-properties"/><Relationship Id="rId2" Target="docProps/core.xml" Type="http://schemas.openxmlformats.org/package/2006/relationships/metadata/core-properties"/><Relationship Id="rId1" Target="ppt/presentation.xml" Type="http://schemas.openxmlformats.org/officeDocument/2006/relationships/officeDocument"/><Relationship Id="rId4"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Syne" panose="020B0604020202020204" charset="0"/>
      <p:regular r:id="rId13"/>
    </p:embeddedFont>
    <p:embeddedFont>
      <p:font typeface="Syne Extra Bold"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180" y="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6182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52025">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arget="../media/image3.jpeg" Type="http://schemas.openxmlformats.org/officeDocument/2006/relationships/image"/><Relationship Id="rId2" Target="../notesSlides/notesSlide1.xml" Type="http://schemas.openxmlformats.org/officeDocument/2006/relationships/notesSlide"/><Relationship Id="rId1" Target="../slideLayouts/slideLayout2.xml" Type="http://schemas.openxmlformats.org/officeDocument/2006/relationships/slideLayout"/></Relationships>
</file>

<file path=ppt/slides/_rels/slide2.xml.rels><?xml version="1.0" encoding="UTF-8" standalone="yes" ?><Relationships xmlns="http://schemas.openxmlformats.org/package/2006/relationships"><Relationship Id="rId3" Target="../media/image4.jpeg" Type="http://schemas.openxmlformats.org/officeDocument/2006/relationships/image"/><Relationship Id="rId2" Target="../notesSlides/notesSlide2.xml" Type="http://schemas.openxmlformats.org/officeDocument/2006/relationships/notesSlide"/><Relationship Id="rId1" Target="../slideLayouts/slideLayout3.xml" Type="http://schemas.openxmlformats.org/officeDocument/2006/relationships/slideLayout"/></Relationships>
</file>

<file path=ppt/slides/_rels/slide3.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3" Target="../media/image13.jpeg" Type="http://schemas.openxmlformats.org/officeDocument/2006/relationships/image"/><Relationship Id="rId2" Target="../notesSlides/notesSlide4.xml" Type="http://schemas.openxmlformats.org/officeDocument/2006/relationships/notesSlide"/><Relationship Id="rId1" Target="../slideLayouts/slideLayout5.xml" Type="http://schemas.openxmlformats.org/officeDocument/2006/relationships/slideLayout"/><Relationship Id="rId4" Target="../media/image14.png" Type="http://schemas.openxmlformats.org/officeDocument/2006/relationships/image"/></Relationships>
</file>

<file path=ppt/slides/_rels/slide5.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arget="../media/image22.jpeg" Type="http://schemas.openxmlformats.org/officeDocument/2006/relationships/image"/><Relationship Id="rId2" Target="../notesSlides/notesSlide7.xml" Type="http://schemas.openxmlformats.org/officeDocument/2006/relationships/notesSlide"/><Relationship Id="rId1" Target="../slideLayouts/slideLayout8.xml" Type="http://schemas.openxmlformats.org/officeDocument/2006/relationships/slideLayout"/></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arget="../media/image23.jpeg" Type="http://schemas.openxmlformats.org/officeDocument/2006/relationships/image"/><Relationship Id="rId2" Target="../notesSlides/notesSlide9.xml" Type="http://schemas.openxmlformats.org/officeDocument/2006/relationships/notesSlide"/><Relationship Id="rId1" Target="../slideLayouts/slideLayout10.xml" Type="http://schemas.openxmlformats.org/officeDocument/2006/relationships/slideLayout"/><Relationship Id="rId4" Target="../media/image24.jpeg" Type="http://schemas.openxmlformats.org/officeDocument/2006/relationships/image"/></Relationships>
</file>

<file path=ppt/slides/_rels/slide10.xml.rels><?xml version="1.0" encoding="UTF-8" standalone="yes" ?><Relationships xmlns="http://schemas.openxmlformats.org/package/2006/relationships"><Relationship Id="rId3" Target="../media/image25.jpeg" Type="http://schemas.openxmlformats.org/officeDocument/2006/relationships/image"/><Relationship Id="rId2" Target="../notesSlides/notesSlide10.xml" Type="http://schemas.openxmlformats.org/officeDocument/2006/relationships/notesSlide"/><Relationship Id="rId1" Target="../slideLayouts/slideLayout11.xml" Type="http://schemas.openxmlformats.org/officeDocument/2006/relationships/slideLayou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249448"/>
            <a:ext cx="7556421" cy="2480310"/>
          </a:xfrm>
          <a:prstGeom prst="rect">
            <a:avLst/>
          </a:prstGeom>
          <a:noFill/>
          <a:ln/>
        </p:spPr>
        <p:txBody>
          <a:bodyPr wrap="square" lIns="0" tIns="0" rIns="0" bIns="0" rtlCol="0" anchor="t"/>
          <a:lstStyle/>
          <a:p>
            <a:pPr marL="0" indent="0" algn="l">
              <a:lnSpc>
                <a:spcPts val="4850"/>
              </a:lnSpc>
              <a:buNone/>
            </a:pPr>
            <a:r>
              <a:rPr lang="en-US" sz="3900" b="1" dirty="0">
                <a:solidFill>
                  <a:srgbClr val="F0F4F1"/>
                </a:solidFill>
                <a:latin typeface="Syne Extra Bold" pitchFamily="34" charset="0"/>
                <a:ea typeface="Syne Extra Bold" pitchFamily="34" charset="-122"/>
                <a:cs typeface="Syne Extra Bold" pitchFamily="34" charset="-120"/>
              </a:rPr>
              <a:t>FarmSetu: Empowering Farmers Through Digital Innovation</a:t>
            </a:r>
            <a:endParaRPr lang="en-US" sz="3900" dirty="0"/>
          </a:p>
        </p:txBody>
      </p:sp>
      <p:sp>
        <p:nvSpPr>
          <p:cNvPr id="4" name="Text 1"/>
          <p:cNvSpPr/>
          <p:nvPr/>
        </p:nvSpPr>
        <p:spPr>
          <a:xfrm>
            <a:off x="6280190" y="5027414"/>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D7E5D8"/>
                </a:solidFill>
                <a:latin typeface="Syne" pitchFamily="34" charset="0"/>
                <a:ea typeface="Syne" pitchFamily="34" charset="-122"/>
                <a:cs typeface="Syne" pitchFamily="34" charset="-120"/>
              </a:rPr>
              <a:t>A comprehensive agricultural platform designed to connect farmers with markets, expertise, technology, and resources—all in one place. Welcome to the future of farming.</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3772" y="449461"/>
            <a:ext cx="13322856" cy="1021556"/>
          </a:xfrm>
          <a:prstGeom prst="rect">
            <a:avLst/>
          </a:prstGeom>
          <a:noFill/>
          <a:ln/>
        </p:spPr>
        <p:txBody>
          <a:bodyPr wrap="square" lIns="0" tIns="0" rIns="0" bIns="0" rtlCol="0" anchor="t"/>
          <a:lstStyle/>
          <a:p>
            <a:pPr marL="0" indent="0" algn="l">
              <a:lnSpc>
                <a:spcPts val="4000"/>
              </a:lnSpc>
              <a:buNone/>
            </a:pPr>
            <a:r>
              <a:rPr lang="en-US" sz="3200" b="1" dirty="0">
                <a:solidFill>
                  <a:srgbClr val="F0F4F1"/>
                </a:solidFill>
                <a:latin typeface="Syne Extra Bold" pitchFamily="34" charset="0"/>
                <a:ea typeface="Syne Extra Bold" pitchFamily="34" charset="-122"/>
                <a:cs typeface="Syne Extra Bold" pitchFamily="34" charset="-120"/>
              </a:rPr>
              <a:t>The Challenge Facing Modern Agriculture</a:t>
            </a:r>
            <a:endParaRPr lang="en-US" sz="3200" dirty="0"/>
          </a:p>
        </p:txBody>
      </p:sp>
      <p:pic>
        <p:nvPicPr>
          <p:cNvPr id="3" name="Image 0" descr="preencoded.png"/>
          <p:cNvPicPr>
            <a:picLocks noChangeAspect="1"/>
          </p:cNvPicPr>
          <p:nvPr/>
        </p:nvPicPr>
        <p:blipFill>
          <a:blip r:embed="rId3"/>
          <a:stretch>
            <a:fillRect/>
          </a:stretch>
        </p:blipFill>
        <p:spPr>
          <a:xfrm>
            <a:off x="653772" y="1899999"/>
            <a:ext cx="6462117" cy="6462117"/>
          </a:xfrm>
          <a:prstGeom prst="rect">
            <a:avLst/>
          </a:prstGeom>
        </p:spPr>
      </p:pic>
      <p:sp>
        <p:nvSpPr>
          <p:cNvPr id="4" name="Text 1"/>
          <p:cNvSpPr/>
          <p:nvPr/>
        </p:nvSpPr>
        <p:spPr>
          <a:xfrm>
            <a:off x="7522131" y="1863209"/>
            <a:ext cx="6462117" cy="1045845"/>
          </a:xfrm>
          <a:prstGeom prst="rect">
            <a:avLst/>
          </a:prstGeom>
          <a:noFill/>
          <a:ln/>
        </p:spPr>
        <p:txBody>
          <a:bodyPr wrap="square" lIns="0" tIns="0" rIns="0" bIns="0" rtlCol="0" anchor="t"/>
          <a:lstStyle/>
          <a:p>
            <a:pPr marL="0" indent="0" algn="l">
              <a:lnSpc>
                <a:spcPts val="2050"/>
              </a:lnSpc>
              <a:buNone/>
            </a:pPr>
            <a:r>
              <a:rPr lang="en-US" sz="1250" dirty="0">
                <a:solidFill>
                  <a:srgbClr val="D7E5D8"/>
                </a:solidFill>
                <a:latin typeface="Syne" pitchFamily="34" charset="0"/>
                <a:ea typeface="Syne" pitchFamily="34" charset="-122"/>
                <a:cs typeface="Syne" pitchFamily="34" charset="-120"/>
              </a:rPr>
              <a:t>Farmers today face unprecedented challenges in an increasingly complex agricultural landscape. Access to timely information, fair markets, and expert guidance remains limited, especially for smallholder farmers in rural areas. Traditional farming methods, while valuable, need support from modern technology to maximize yields and profitability.</a:t>
            </a:r>
            <a:endParaRPr lang="en-US" sz="1250" dirty="0"/>
          </a:p>
        </p:txBody>
      </p:sp>
      <p:sp>
        <p:nvSpPr>
          <p:cNvPr id="5" name="Text 2"/>
          <p:cNvSpPr/>
          <p:nvPr/>
        </p:nvSpPr>
        <p:spPr>
          <a:xfrm>
            <a:off x="7522131" y="3056096"/>
            <a:ext cx="6462117" cy="1307306"/>
          </a:xfrm>
          <a:prstGeom prst="rect">
            <a:avLst/>
          </a:prstGeom>
          <a:noFill/>
          <a:ln/>
        </p:spPr>
        <p:txBody>
          <a:bodyPr wrap="square" lIns="0" tIns="0" rIns="0" bIns="0" rtlCol="0" anchor="t"/>
          <a:lstStyle/>
          <a:p>
            <a:pPr marL="0" indent="0" algn="l">
              <a:lnSpc>
                <a:spcPts val="2050"/>
              </a:lnSpc>
              <a:buNone/>
            </a:pPr>
            <a:r>
              <a:rPr lang="en-US" sz="1250" dirty="0">
                <a:solidFill>
                  <a:srgbClr val="D7E5D8"/>
                </a:solidFill>
                <a:latin typeface="Syne" pitchFamily="34" charset="0"/>
                <a:ea typeface="Syne" pitchFamily="34" charset="-122"/>
                <a:cs typeface="Syne" pitchFamily="34" charset="-120"/>
              </a:rPr>
              <a:t>Weather unpredictability, market price fluctuations, crop diseases, and limited access to government schemes create barriers to success. Many farmers lack the tools to make data-driven decisions about what to plant, when to harvest, and where to sell. This information gap can mean the difference between a profitable season and significant losses.</a:t>
            </a:r>
            <a:endParaRPr lang="en-US" sz="1250" dirty="0"/>
          </a:p>
        </p:txBody>
      </p:sp>
      <p:sp>
        <p:nvSpPr>
          <p:cNvPr id="6" name="Text 3"/>
          <p:cNvSpPr/>
          <p:nvPr/>
        </p:nvSpPr>
        <p:spPr>
          <a:xfrm>
            <a:off x="7522131" y="4510445"/>
            <a:ext cx="6462117" cy="1045845"/>
          </a:xfrm>
          <a:prstGeom prst="rect">
            <a:avLst/>
          </a:prstGeom>
          <a:noFill/>
          <a:ln/>
        </p:spPr>
        <p:txBody>
          <a:bodyPr wrap="square" lIns="0" tIns="0" rIns="0" bIns="0" rtlCol="0" anchor="t"/>
          <a:lstStyle/>
          <a:p>
            <a:pPr marL="0" indent="0" algn="l">
              <a:lnSpc>
                <a:spcPts val="2050"/>
              </a:lnSpc>
              <a:buNone/>
            </a:pPr>
            <a:r>
              <a:rPr lang="en-US" sz="1250" dirty="0">
                <a:solidFill>
                  <a:srgbClr val="000000"/>
                </a:solidFill>
                <a:highlight>
                  <a:srgbClr val="A9F00F"/>
                </a:highlight>
                <a:latin typeface="Syne" pitchFamily="34" charset="0"/>
                <a:ea typeface="Syne" pitchFamily="34" charset="-122"/>
                <a:cs typeface="Syne" pitchFamily="34" charset="-120"/>
              </a:rPr>
              <a:t>FarmSetu bridges this gap by bringing essential agricultural tools, resources, and community support directly to farmers' fingertips.</a:t>
            </a:r>
            <a:r>
              <a:rPr lang="en-US" sz="1250" dirty="0">
                <a:solidFill>
                  <a:srgbClr val="D7E5D8"/>
                </a:solidFill>
                <a:latin typeface="Syne" pitchFamily="34" charset="0"/>
                <a:ea typeface="Syne" pitchFamily="34" charset="-122"/>
                <a:cs typeface="Syne" pitchFamily="34" charset="-120"/>
              </a:rPr>
              <a:t> Our platform democratizes access to technology and expertise, ensuring every farmer—regardless of size or location—has the resources needed to thrive in today's agricultural economy.</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09851" y="630317"/>
            <a:ext cx="10310813" cy="554593"/>
          </a:xfrm>
          <a:prstGeom prst="rect">
            <a:avLst/>
          </a:prstGeom>
          <a:noFill/>
          <a:ln/>
        </p:spPr>
        <p:txBody>
          <a:bodyPr wrap="none" lIns="0" tIns="0" rIns="0" bIns="0" rtlCol="0" anchor="t"/>
          <a:lstStyle/>
          <a:p>
            <a:pPr marL="0" indent="0" algn="l">
              <a:lnSpc>
                <a:spcPts val="4350"/>
              </a:lnSpc>
              <a:buNone/>
            </a:pPr>
            <a:r>
              <a:rPr lang="en-US" sz="3450" b="1" dirty="0">
                <a:solidFill>
                  <a:srgbClr val="F0F4F1"/>
                </a:solidFill>
                <a:latin typeface="Syne Extra Bold" pitchFamily="34" charset="0"/>
                <a:ea typeface="Syne Extra Bold" pitchFamily="34" charset="-122"/>
                <a:cs typeface="Syne Extra Bold" pitchFamily="34" charset="-120"/>
              </a:rPr>
              <a:t>FarmSetu Platform Overview</a:t>
            </a:r>
            <a:endParaRPr lang="en-US" sz="3450" dirty="0"/>
          </a:p>
        </p:txBody>
      </p:sp>
      <p:sp>
        <p:nvSpPr>
          <p:cNvPr id="3" name="Text 1"/>
          <p:cNvSpPr/>
          <p:nvPr/>
        </p:nvSpPr>
        <p:spPr>
          <a:xfrm>
            <a:off x="709851" y="1539835"/>
            <a:ext cx="13210699" cy="567928"/>
          </a:xfrm>
          <a:prstGeom prst="rect">
            <a:avLst/>
          </a:prstGeom>
          <a:noFill/>
          <a:ln/>
        </p:spPr>
        <p:txBody>
          <a:bodyPr wrap="square" lIns="0" tIns="0" rIns="0" bIns="0" rtlCol="0" anchor="t"/>
          <a:lstStyle/>
          <a:p>
            <a:pPr marL="0" indent="0" algn="l">
              <a:lnSpc>
                <a:spcPts val="2200"/>
              </a:lnSpc>
              <a:buNone/>
            </a:pPr>
            <a:r>
              <a:rPr lang="en-US" sz="1350" dirty="0">
                <a:solidFill>
                  <a:srgbClr val="D7E5D8"/>
                </a:solidFill>
                <a:latin typeface="Syne" pitchFamily="34" charset="0"/>
                <a:ea typeface="Syne" pitchFamily="34" charset="-122"/>
                <a:cs typeface="Syne" pitchFamily="34" charset="-120"/>
              </a:rPr>
              <a:t>FarmSetu is more than just a farming app—it's a complete digital ecosystem designed with farmers at the center. Our platform integrates multiple essential services into one seamless experience, from buying and selling agricultural supplies to connecting with experts and predicting crop yields using advanced machine learning.</a:t>
            </a:r>
            <a:endParaRPr lang="en-US" sz="1350" dirty="0"/>
          </a:p>
        </p:txBody>
      </p:sp>
      <p:sp>
        <p:nvSpPr>
          <p:cNvPr id="4" name="Shape 2"/>
          <p:cNvSpPr/>
          <p:nvPr/>
        </p:nvSpPr>
        <p:spPr>
          <a:xfrm>
            <a:off x="709851" y="2307431"/>
            <a:ext cx="6516648" cy="2031444"/>
          </a:xfrm>
          <a:prstGeom prst="roundRect">
            <a:avLst>
              <a:gd name="adj" fmla="val 3670"/>
            </a:avLst>
          </a:prstGeom>
          <a:solidFill>
            <a:srgbClr val="547808"/>
          </a:solidFill>
          <a:ln w="7620">
            <a:solidFill>
              <a:srgbClr val="6D9121"/>
            </a:solidFill>
            <a:prstDash val="solid"/>
          </a:ln>
        </p:spPr>
      </p:sp>
      <p:sp>
        <p:nvSpPr>
          <p:cNvPr id="5" name="Shape 3"/>
          <p:cNvSpPr/>
          <p:nvPr/>
        </p:nvSpPr>
        <p:spPr>
          <a:xfrm>
            <a:off x="894874" y="2492454"/>
            <a:ext cx="532448" cy="532448"/>
          </a:xfrm>
          <a:prstGeom prst="roundRect">
            <a:avLst>
              <a:gd name="adj" fmla="val 17171791"/>
            </a:avLst>
          </a:prstGeom>
          <a:solidFill>
            <a:srgbClr val="A9F00F"/>
          </a:solidFill>
          <a:ln/>
        </p:spPr>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1321" y="2638782"/>
            <a:ext cx="239554" cy="239554"/>
          </a:xfrm>
          <a:prstGeom prst="rect">
            <a:avLst/>
          </a:prstGeom>
        </p:spPr>
      </p:pic>
      <p:sp>
        <p:nvSpPr>
          <p:cNvPr id="7" name="Text 4"/>
          <p:cNvSpPr/>
          <p:nvPr/>
        </p:nvSpPr>
        <p:spPr>
          <a:xfrm>
            <a:off x="894874" y="3202305"/>
            <a:ext cx="3450193" cy="277178"/>
          </a:xfrm>
          <a:prstGeom prst="rect">
            <a:avLst/>
          </a:prstGeom>
          <a:noFill/>
          <a:ln/>
        </p:spPr>
        <p:txBody>
          <a:bodyPr wrap="none" lIns="0" tIns="0" rIns="0" bIns="0" rtlCol="0" anchor="t"/>
          <a:lstStyle/>
          <a:p>
            <a:pPr marL="0" indent="0" algn="l">
              <a:lnSpc>
                <a:spcPts val="2150"/>
              </a:lnSpc>
              <a:buNone/>
            </a:pPr>
            <a:r>
              <a:rPr lang="en-US" sz="1700" b="1" dirty="0">
                <a:solidFill>
                  <a:srgbClr val="FFFFFF"/>
                </a:solidFill>
                <a:latin typeface="Syne Extra Bold" pitchFamily="34" charset="0"/>
                <a:ea typeface="Syne Extra Bold" pitchFamily="34" charset="-122"/>
                <a:cs typeface="Syne Extra Bold" pitchFamily="34" charset="-120"/>
              </a:rPr>
              <a:t>Digital Marketplace</a:t>
            </a:r>
            <a:endParaRPr lang="en-US" sz="1700" dirty="0"/>
          </a:p>
        </p:txBody>
      </p:sp>
      <p:sp>
        <p:nvSpPr>
          <p:cNvPr id="8" name="Text 5"/>
          <p:cNvSpPr/>
          <p:nvPr/>
        </p:nvSpPr>
        <p:spPr>
          <a:xfrm>
            <a:off x="894874" y="3585924"/>
            <a:ext cx="6146602" cy="567928"/>
          </a:xfrm>
          <a:prstGeom prst="rect">
            <a:avLst/>
          </a:prstGeom>
          <a:noFill/>
          <a:ln/>
        </p:spPr>
        <p:txBody>
          <a:bodyPr wrap="square" lIns="0" tIns="0" rIns="0" bIns="0" rtlCol="0" anchor="t"/>
          <a:lstStyle/>
          <a:p>
            <a:pPr marL="0" indent="0" algn="l">
              <a:lnSpc>
                <a:spcPts val="2200"/>
              </a:lnSpc>
              <a:buNone/>
            </a:pPr>
            <a:r>
              <a:rPr lang="en-US" sz="1350" dirty="0">
                <a:solidFill>
                  <a:srgbClr val="FFFFFF"/>
                </a:solidFill>
                <a:latin typeface="Syne" pitchFamily="34" charset="0"/>
                <a:ea typeface="Syne" pitchFamily="34" charset="-122"/>
                <a:cs typeface="Syne" pitchFamily="34" charset="-120"/>
              </a:rPr>
              <a:t>Buy and sell farming resources including tools, seeds, and fertilizers in a trusted community marketplace</a:t>
            </a:r>
            <a:endParaRPr lang="en-US" sz="1350" dirty="0"/>
          </a:p>
        </p:txBody>
      </p:sp>
      <p:sp>
        <p:nvSpPr>
          <p:cNvPr id="9" name="Shape 6"/>
          <p:cNvSpPr/>
          <p:nvPr/>
        </p:nvSpPr>
        <p:spPr>
          <a:xfrm>
            <a:off x="7403902" y="2307431"/>
            <a:ext cx="6516648" cy="2031444"/>
          </a:xfrm>
          <a:prstGeom prst="roundRect">
            <a:avLst>
              <a:gd name="adj" fmla="val 3670"/>
            </a:avLst>
          </a:prstGeom>
          <a:solidFill>
            <a:srgbClr val="547808"/>
          </a:solidFill>
          <a:ln w="7620">
            <a:solidFill>
              <a:srgbClr val="6D9121"/>
            </a:solidFill>
            <a:prstDash val="solid"/>
          </a:ln>
        </p:spPr>
      </p:sp>
      <p:sp>
        <p:nvSpPr>
          <p:cNvPr id="10" name="Shape 7"/>
          <p:cNvSpPr/>
          <p:nvPr/>
        </p:nvSpPr>
        <p:spPr>
          <a:xfrm>
            <a:off x="7588925" y="2492454"/>
            <a:ext cx="532448" cy="532448"/>
          </a:xfrm>
          <a:prstGeom prst="roundRect">
            <a:avLst>
              <a:gd name="adj" fmla="val 17171791"/>
            </a:avLst>
          </a:prstGeom>
          <a:solidFill>
            <a:srgbClr val="A9F00F"/>
          </a:solidFill>
          <a:ln/>
        </p:spPr>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35372" y="2638782"/>
            <a:ext cx="239554" cy="239554"/>
          </a:xfrm>
          <a:prstGeom prst="rect">
            <a:avLst/>
          </a:prstGeom>
        </p:spPr>
      </p:pic>
      <p:sp>
        <p:nvSpPr>
          <p:cNvPr id="12" name="Text 8"/>
          <p:cNvSpPr/>
          <p:nvPr/>
        </p:nvSpPr>
        <p:spPr>
          <a:xfrm>
            <a:off x="7588925" y="3202305"/>
            <a:ext cx="2784515" cy="277178"/>
          </a:xfrm>
          <a:prstGeom prst="rect">
            <a:avLst/>
          </a:prstGeom>
          <a:noFill/>
          <a:ln/>
        </p:spPr>
        <p:txBody>
          <a:bodyPr wrap="none" lIns="0" tIns="0" rIns="0" bIns="0" rtlCol="0" anchor="t"/>
          <a:lstStyle/>
          <a:p>
            <a:pPr marL="0" indent="0" algn="l">
              <a:lnSpc>
                <a:spcPts val="2150"/>
              </a:lnSpc>
              <a:buNone/>
            </a:pPr>
            <a:r>
              <a:rPr lang="en-US" sz="1700" b="1" dirty="0">
                <a:solidFill>
                  <a:srgbClr val="FFFFFF"/>
                </a:solidFill>
                <a:latin typeface="Syne Extra Bold" pitchFamily="34" charset="0"/>
                <a:ea typeface="Syne Extra Bold" pitchFamily="34" charset="-122"/>
                <a:cs typeface="Syne Extra Bold" pitchFamily="34" charset="-120"/>
              </a:rPr>
              <a:t>Expert Network</a:t>
            </a:r>
            <a:endParaRPr lang="en-US" sz="1700" dirty="0"/>
          </a:p>
        </p:txBody>
      </p:sp>
      <p:sp>
        <p:nvSpPr>
          <p:cNvPr id="13" name="Text 9"/>
          <p:cNvSpPr/>
          <p:nvPr/>
        </p:nvSpPr>
        <p:spPr>
          <a:xfrm>
            <a:off x="7588925" y="3585924"/>
            <a:ext cx="6146602" cy="567928"/>
          </a:xfrm>
          <a:prstGeom prst="rect">
            <a:avLst/>
          </a:prstGeom>
          <a:noFill/>
          <a:ln/>
        </p:spPr>
        <p:txBody>
          <a:bodyPr wrap="square" lIns="0" tIns="0" rIns="0" bIns="0" rtlCol="0" anchor="t"/>
          <a:lstStyle/>
          <a:p>
            <a:pPr marL="0" indent="0" algn="l">
              <a:lnSpc>
                <a:spcPts val="2200"/>
              </a:lnSpc>
              <a:buNone/>
            </a:pPr>
            <a:r>
              <a:rPr lang="en-US" sz="1350" dirty="0">
                <a:solidFill>
                  <a:srgbClr val="FFFFFF"/>
                </a:solidFill>
                <a:latin typeface="Syne" pitchFamily="34" charset="0"/>
                <a:ea typeface="Syne" pitchFamily="34" charset="-122"/>
                <a:cs typeface="Syne" pitchFamily="34" charset="-120"/>
              </a:rPr>
              <a:t>Connect instantly with agricultural experts and fellow farmers for guidance and community support</a:t>
            </a:r>
            <a:endParaRPr lang="en-US" sz="1350" dirty="0"/>
          </a:p>
        </p:txBody>
      </p:sp>
      <p:sp>
        <p:nvSpPr>
          <p:cNvPr id="14" name="Shape 10"/>
          <p:cNvSpPr/>
          <p:nvPr/>
        </p:nvSpPr>
        <p:spPr>
          <a:xfrm>
            <a:off x="709851" y="4516279"/>
            <a:ext cx="6516648" cy="2031444"/>
          </a:xfrm>
          <a:prstGeom prst="roundRect">
            <a:avLst>
              <a:gd name="adj" fmla="val 3670"/>
            </a:avLst>
          </a:prstGeom>
          <a:solidFill>
            <a:srgbClr val="547808"/>
          </a:solidFill>
          <a:ln w="7620">
            <a:solidFill>
              <a:srgbClr val="6D9121"/>
            </a:solidFill>
            <a:prstDash val="solid"/>
          </a:ln>
        </p:spPr>
      </p:sp>
      <p:sp>
        <p:nvSpPr>
          <p:cNvPr id="15" name="Shape 11"/>
          <p:cNvSpPr/>
          <p:nvPr/>
        </p:nvSpPr>
        <p:spPr>
          <a:xfrm>
            <a:off x="894874" y="4701302"/>
            <a:ext cx="532448" cy="532448"/>
          </a:xfrm>
          <a:prstGeom prst="roundRect">
            <a:avLst>
              <a:gd name="adj" fmla="val 17171791"/>
            </a:avLst>
          </a:prstGeom>
          <a:solidFill>
            <a:srgbClr val="A9F00F"/>
          </a:solidFill>
          <a:ln/>
        </p:spPr>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41321" y="4847630"/>
            <a:ext cx="239554" cy="239554"/>
          </a:xfrm>
          <a:prstGeom prst="rect">
            <a:avLst/>
          </a:prstGeom>
        </p:spPr>
      </p:pic>
      <p:sp>
        <p:nvSpPr>
          <p:cNvPr id="17" name="Text 12"/>
          <p:cNvSpPr/>
          <p:nvPr/>
        </p:nvSpPr>
        <p:spPr>
          <a:xfrm>
            <a:off x="894874" y="5411152"/>
            <a:ext cx="3343513" cy="277178"/>
          </a:xfrm>
          <a:prstGeom prst="rect">
            <a:avLst/>
          </a:prstGeom>
          <a:noFill/>
          <a:ln/>
        </p:spPr>
        <p:txBody>
          <a:bodyPr wrap="none" lIns="0" tIns="0" rIns="0" bIns="0" rtlCol="0" anchor="t"/>
          <a:lstStyle/>
          <a:p>
            <a:pPr marL="0" indent="0" algn="l">
              <a:lnSpc>
                <a:spcPts val="2150"/>
              </a:lnSpc>
              <a:buNone/>
            </a:pPr>
            <a:r>
              <a:rPr lang="en-US" sz="1700" b="1" dirty="0">
                <a:solidFill>
                  <a:srgbClr val="FFFFFF"/>
                </a:solidFill>
                <a:latin typeface="Syne Extra Bold" pitchFamily="34" charset="0"/>
                <a:ea typeface="Syne Extra Bold" pitchFamily="34" charset="-122"/>
                <a:cs typeface="Syne Extra Bold" pitchFamily="34" charset="-120"/>
              </a:rPr>
              <a:t>Market Intelligence</a:t>
            </a:r>
            <a:endParaRPr lang="en-US" sz="1700" dirty="0"/>
          </a:p>
        </p:txBody>
      </p:sp>
      <p:sp>
        <p:nvSpPr>
          <p:cNvPr id="18" name="Text 13"/>
          <p:cNvSpPr/>
          <p:nvPr/>
        </p:nvSpPr>
        <p:spPr>
          <a:xfrm>
            <a:off x="894874" y="5794772"/>
            <a:ext cx="6146602" cy="567928"/>
          </a:xfrm>
          <a:prstGeom prst="rect">
            <a:avLst/>
          </a:prstGeom>
          <a:noFill/>
          <a:ln/>
        </p:spPr>
        <p:txBody>
          <a:bodyPr wrap="square" lIns="0" tIns="0" rIns="0" bIns="0" rtlCol="0" anchor="t"/>
          <a:lstStyle/>
          <a:p>
            <a:pPr marL="0" indent="0" algn="l">
              <a:lnSpc>
                <a:spcPts val="2200"/>
              </a:lnSpc>
              <a:buNone/>
            </a:pPr>
            <a:r>
              <a:rPr lang="en-US" sz="1350" dirty="0">
                <a:solidFill>
                  <a:srgbClr val="FFFFFF"/>
                </a:solidFill>
                <a:latin typeface="Syne" pitchFamily="34" charset="0"/>
                <a:ea typeface="Syne" pitchFamily="34" charset="-122"/>
                <a:cs typeface="Syne" pitchFamily="34" charset="-120"/>
              </a:rPr>
              <a:t>Access real-time market analysis with price trends and profitability insights for informed decision-making</a:t>
            </a:r>
            <a:endParaRPr lang="en-US" sz="1350" dirty="0"/>
          </a:p>
        </p:txBody>
      </p:sp>
      <p:sp>
        <p:nvSpPr>
          <p:cNvPr id="19" name="Shape 14"/>
          <p:cNvSpPr/>
          <p:nvPr/>
        </p:nvSpPr>
        <p:spPr>
          <a:xfrm>
            <a:off x="7403902" y="4516279"/>
            <a:ext cx="6516648" cy="2031444"/>
          </a:xfrm>
          <a:prstGeom prst="roundRect">
            <a:avLst>
              <a:gd name="adj" fmla="val 3670"/>
            </a:avLst>
          </a:prstGeom>
          <a:solidFill>
            <a:srgbClr val="547808"/>
          </a:solidFill>
          <a:ln w="7620">
            <a:solidFill>
              <a:srgbClr val="6D9121"/>
            </a:solidFill>
            <a:prstDash val="solid"/>
          </a:ln>
        </p:spPr>
      </p:sp>
      <p:sp>
        <p:nvSpPr>
          <p:cNvPr id="20" name="Shape 15"/>
          <p:cNvSpPr/>
          <p:nvPr/>
        </p:nvSpPr>
        <p:spPr>
          <a:xfrm>
            <a:off x="7588925" y="4701302"/>
            <a:ext cx="532448" cy="532448"/>
          </a:xfrm>
          <a:prstGeom prst="roundRect">
            <a:avLst>
              <a:gd name="adj" fmla="val 17171791"/>
            </a:avLst>
          </a:prstGeom>
          <a:solidFill>
            <a:srgbClr val="A9F00F"/>
          </a:solidFill>
          <a:ln/>
        </p:spPr>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735372" y="4847630"/>
            <a:ext cx="239554" cy="239554"/>
          </a:xfrm>
          <a:prstGeom prst="rect">
            <a:avLst/>
          </a:prstGeom>
        </p:spPr>
      </p:pic>
      <p:sp>
        <p:nvSpPr>
          <p:cNvPr id="22" name="Text 16"/>
          <p:cNvSpPr/>
          <p:nvPr/>
        </p:nvSpPr>
        <p:spPr>
          <a:xfrm>
            <a:off x="7588925" y="5411152"/>
            <a:ext cx="3091696" cy="277178"/>
          </a:xfrm>
          <a:prstGeom prst="rect">
            <a:avLst/>
          </a:prstGeom>
          <a:noFill/>
          <a:ln/>
        </p:spPr>
        <p:txBody>
          <a:bodyPr wrap="none" lIns="0" tIns="0" rIns="0" bIns="0" rtlCol="0" anchor="t"/>
          <a:lstStyle/>
          <a:p>
            <a:pPr marL="0" indent="0" algn="l">
              <a:lnSpc>
                <a:spcPts val="2150"/>
              </a:lnSpc>
              <a:buNone/>
            </a:pPr>
            <a:r>
              <a:rPr lang="en-US" sz="1700" b="1" dirty="0">
                <a:solidFill>
                  <a:srgbClr val="FFFFFF"/>
                </a:solidFill>
                <a:latin typeface="Syne Extra Bold" pitchFamily="34" charset="0"/>
                <a:ea typeface="Syne Extra Bold" pitchFamily="34" charset="-122"/>
                <a:cs typeface="Syne Extra Bold" pitchFamily="34" charset="-120"/>
              </a:rPr>
              <a:t>AI-Powered Tools</a:t>
            </a:r>
            <a:endParaRPr lang="en-US" sz="1700" dirty="0"/>
          </a:p>
        </p:txBody>
      </p:sp>
      <p:sp>
        <p:nvSpPr>
          <p:cNvPr id="23" name="Text 17"/>
          <p:cNvSpPr/>
          <p:nvPr/>
        </p:nvSpPr>
        <p:spPr>
          <a:xfrm>
            <a:off x="7588925" y="5794772"/>
            <a:ext cx="6146602" cy="567928"/>
          </a:xfrm>
          <a:prstGeom prst="rect">
            <a:avLst/>
          </a:prstGeom>
          <a:noFill/>
          <a:ln/>
        </p:spPr>
        <p:txBody>
          <a:bodyPr wrap="square" lIns="0" tIns="0" rIns="0" bIns="0" rtlCol="0" anchor="t"/>
          <a:lstStyle/>
          <a:p>
            <a:pPr marL="0" indent="0" algn="l">
              <a:lnSpc>
                <a:spcPts val="2200"/>
              </a:lnSpc>
              <a:buNone/>
            </a:pPr>
            <a:r>
              <a:rPr lang="en-US" sz="1350" dirty="0">
                <a:solidFill>
                  <a:srgbClr val="FFFFFF"/>
                </a:solidFill>
                <a:latin typeface="Syne" pitchFamily="34" charset="0"/>
                <a:ea typeface="Syne" pitchFamily="34" charset="-122"/>
                <a:cs typeface="Syne" pitchFamily="34" charset="-120"/>
              </a:rPr>
              <a:t>Leverage machine learning for crop recommendations, disease detection, yield prediction, and rainfall forecasting</a:t>
            </a:r>
            <a:endParaRPr lang="en-US" sz="1350" dirty="0"/>
          </a:p>
        </p:txBody>
      </p:sp>
      <p:sp>
        <p:nvSpPr>
          <p:cNvPr id="24" name="Text 18"/>
          <p:cNvSpPr/>
          <p:nvPr/>
        </p:nvSpPr>
        <p:spPr>
          <a:xfrm>
            <a:off x="709851" y="6747391"/>
            <a:ext cx="13210699" cy="851892"/>
          </a:xfrm>
          <a:prstGeom prst="rect">
            <a:avLst/>
          </a:prstGeom>
          <a:noFill/>
          <a:ln/>
        </p:spPr>
        <p:txBody>
          <a:bodyPr wrap="square" lIns="0" tIns="0" rIns="0" bIns="0" rtlCol="0" anchor="t"/>
          <a:lstStyle/>
          <a:p>
            <a:pPr marL="0" indent="0" algn="l">
              <a:lnSpc>
                <a:spcPts val="2200"/>
              </a:lnSpc>
              <a:buNone/>
            </a:pPr>
            <a:r>
              <a:rPr lang="en-US" sz="1350" dirty="0">
                <a:solidFill>
                  <a:srgbClr val="D7E5D8"/>
                </a:solidFill>
                <a:latin typeface="Syne" pitchFamily="34" charset="0"/>
                <a:ea typeface="Syne" pitchFamily="34" charset="-122"/>
                <a:cs typeface="Syne" pitchFamily="34" charset="-120"/>
              </a:rPr>
              <a:t>Every feature is designed with practical farming needs in mind, ensuring the technology serves the farmer—not the other way around. The platform supports </a:t>
            </a:r>
            <a:r>
              <a:rPr lang="en-US" sz="1350" b="1" dirty="0">
                <a:solidFill>
                  <a:srgbClr val="A9F00F"/>
                </a:solidFill>
                <a:latin typeface="Syne" pitchFamily="34" charset="0"/>
                <a:ea typeface="Syne" pitchFamily="34" charset="-122"/>
                <a:cs typeface="Syne" pitchFamily="34" charset="-120"/>
              </a:rPr>
              <a:t>multiple Indian languages</a:t>
            </a:r>
            <a:r>
              <a:rPr lang="en-US" sz="1350" dirty="0">
                <a:solidFill>
                  <a:srgbClr val="D7E5D8"/>
                </a:solidFill>
                <a:latin typeface="Syne" pitchFamily="34" charset="0"/>
                <a:ea typeface="Syne" pitchFamily="34" charset="-122"/>
                <a:cs typeface="Syne" pitchFamily="34" charset="-120"/>
              </a:rPr>
              <a:t>, making it accessible to farmers across diverse linguistic regions. Whether you're managing a small family farm or overseeing commercial operations, FarmSetu adapts to your specific needs and circumstances.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20911" y="426839"/>
            <a:ext cx="8472607" cy="485180"/>
          </a:xfrm>
          <a:prstGeom prst="rect">
            <a:avLst/>
          </a:prstGeom>
          <a:noFill/>
          <a:ln/>
        </p:spPr>
        <p:txBody>
          <a:bodyPr wrap="none" lIns="0" tIns="0" rIns="0" bIns="0" rtlCol="0" anchor="t"/>
          <a:lstStyle/>
          <a:p>
            <a:pPr marL="0" indent="0" algn="l">
              <a:lnSpc>
                <a:spcPts val="3800"/>
              </a:lnSpc>
              <a:buNone/>
            </a:pPr>
            <a:r>
              <a:rPr lang="en-US" sz="3050" b="1" dirty="0">
                <a:solidFill>
                  <a:srgbClr val="F0F4F1"/>
                </a:solidFill>
                <a:latin typeface="Syne Extra Bold" pitchFamily="34" charset="0"/>
                <a:ea typeface="Syne Extra Bold" pitchFamily="34" charset="-122"/>
                <a:cs typeface="Syne Extra Bold" pitchFamily="34" charset="-120"/>
              </a:rPr>
              <a:t>Marketplace &amp; Trading Hub</a:t>
            </a:r>
            <a:endParaRPr lang="en-US" sz="3050" dirty="0"/>
          </a:p>
        </p:txBody>
      </p:sp>
      <p:sp>
        <p:nvSpPr>
          <p:cNvPr id="3" name="Text 1"/>
          <p:cNvSpPr/>
          <p:nvPr/>
        </p:nvSpPr>
        <p:spPr>
          <a:xfrm>
            <a:off x="620911" y="1299924"/>
            <a:ext cx="4107180" cy="291108"/>
          </a:xfrm>
          <a:prstGeom prst="rect">
            <a:avLst/>
          </a:prstGeom>
          <a:noFill/>
          <a:ln/>
        </p:spPr>
        <p:txBody>
          <a:bodyPr wrap="none" lIns="0" tIns="0" rIns="0" bIns="0" rtlCol="0" anchor="t"/>
          <a:lstStyle/>
          <a:p>
            <a:pPr marL="0" indent="0" algn="l">
              <a:lnSpc>
                <a:spcPts val="2250"/>
              </a:lnSpc>
              <a:buNone/>
            </a:pPr>
            <a:r>
              <a:rPr lang="en-US" sz="1800" b="1" dirty="0">
                <a:solidFill>
                  <a:srgbClr val="A9F00F"/>
                </a:solidFill>
                <a:latin typeface="Syne Extra Bold" pitchFamily="34" charset="0"/>
                <a:ea typeface="Syne Extra Bold" pitchFamily="34" charset="-122"/>
                <a:cs typeface="Syne Extra Bold" pitchFamily="34" charset="-120"/>
              </a:rPr>
              <a:t>Connect. Trade. Grow.</a:t>
            </a:r>
            <a:endParaRPr lang="en-US" sz="1800" dirty="0"/>
          </a:p>
        </p:txBody>
      </p:sp>
      <p:sp>
        <p:nvSpPr>
          <p:cNvPr id="4" name="Text 2"/>
          <p:cNvSpPr/>
          <p:nvPr/>
        </p:nvSpPr>
        <p:spPr>
          <a:xfrm>
            <a:off x="620911" y="1746171"/>
            <a:ext cx="7881699" cy="745093"/>
          </a:xfrm>
          <a:prstGeom prst="rect">
            <a:avLst/>
          </a:prstGeom>
          <a:noFill/>
          <a:ln/>
        </p:spPr>
        <p:txBody>
          <a:bodyPr wrap="square" lIns="0" tIns="0" rIns="0" bIns="0" rtlCol="0" anchor="t"/>
          <a:lstStyle/>
          <a:p>
            <a:pPr marL="0" indent="0" algn="l">
              <a:lnSpc>
                <a:spcPts val="1950"/>
              </a:lnSpc>
              <a:buNone/>
            </a:pPr>
            <a:r>
              <a:rPr lang="en-US" sz="1200" dirty="0">
                <a:solidFill>
                  <a:srgbClr val="D7E5D8"/>
                </a:solidFill>
                <a:latin typeface="Syne" pitchFamily="34" charset="0"/>
                <a:ea typeface="Syne" pitchFamily="34" charset="-122"/>
                <a:cs typeface="Syne" pitchFamily="34" charset="-120"/>
              </a:rPr>
              <a:t>The FarmSetu Marketplace revolutionizes how farmers access and exchange agricultural resources. Our digital trading platform creates a transparent, efficient marketplace where farmers can buy quality inputs and sell surplus resources directly to other farmers, eliminating unnecessary middlemen and reducing costs.</a:t>
            </a:r>
            <a:endParaRPr lang="en-US" sz="1200" dirty="0"/>
          </a:p>
        </p:txBody>
      </p:sp>
      <p:sp>
        <p:nvSpPr>
          <p:cNvPr id="5" name="Text 3"/>
          <p:cNvSpPr/>
          <p:nvPr/>
        </p:nvSpPr>
        <p:spPr>
          <a:xfrm>
            <a:off x="620911" y="2630924"/>
            <a:ext cx="7881699" cy="248364"/>
          </a:xfrm>
          <a:prstGeom prst="rect">
            <a:avLst/>
          </a:prstGeom>
          <a:noFill/>
          <a:ln/>
        </p:spPr>
        <p:txBody>
          <a:bodyPr wrap="none" lIns="0" tIns="0" rIns="0" bIns="0" rtlCol="0" anchor="t"/>
          <a:lstStyle/>
          <a:p>
            <a:pPr marL="0" indent="0" algn="l">
              <a:lnSpc>
                <a:spcPts val="1950"/>
              </a:lnSpc>
              <a:buNone/>
            </a:pPr>
            <a:r>
              <a:rPr lang="en-US" sz="1200" b="1" dirty="0">
                <a:solidFill>
                  <a:srgbClr val="D7E5D8"/>
                </a:solidFill>
                <a:latin typeface="Syne" pitchFamily="34" charset="0"/>
                <a:ea typeface="Syne" pitchFamily="34" charset="-122"/>
                <a:cs typeface="Syne" pitchFamily="34" charset="-120"/>
              </a:rPr>
              <a:t>Key Features:</a:t>
            </a:r>
            <a:endParaRPr lang="en-US" sz="1200" dirty="0"/>
          </a:p>
        </p:txBody>
      </p:sp>
      <p:sp>
        <p:nvSpPr>
          <p:cNvPr id="6" name="Text 4"/>
          <p:cNvSpPr/>
          <p:nvPr/>
        </p:nvSpPr>
        <p:spPr>
          <a:xfrm>
            <a:off x="620911" y="3018949"/>
            <a:ext cx="7881699" cy="248364"/>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D7E5D8"/>
                </a:solidFill>
                <a:latin typeface="Syne" pitchFamily="34" charset="0"/>
                <a:ea typeface="Syne" pitchFamily="34" charset="-122"/>
                <a:cs typeface="Syne" pitchFamily="34" charset="-120"/>
              </a:rPr>
              <a:t>Browse and purchase seeds, fertilizers, pesticides, and farming tools from verified sellers</a:t>
            </a:r>
            <a:endParaRPr lang="en-US" sz="1200" dirty="0"/>
          </a:p>
        </p:txBody>
      </p:sp>
      <p:sp>
        <p:nvSpPr>
          <p:cNvPr id="7" name="Text 5"/>
          <p:cNvSpPr/>
          <p:nvPr/>
        </p:nvSpPr>
        <p:spPr>
          <a:xfrm>
            <a:off x="620911" y="3321606"/>
            <a:ext cx="7881699" cy="248364"/>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D7E5D8"/>
                </a:solidFill>
                <a:latin typeface="Syne" pitchFamily="34" charset="0"/>
                <a:ea typeface="Syne" pitchFamily="34" charset="-122"/>
                <a:cs typeface="Syne" pitchFamily="34" charset="-120"/>
              </a:rPr>
              <a:t>List your own surplus resources for sale with easy-to-use posting tools</a:t>
            </a:r>
            <a:endParaRPr lang="en-US" sz="1200" dirty="0"/>
          </a:p>
        </p:txBody>
      </p:sp>
      <p:sp>
        <p:nvSpPr>
          <p:cNvPr id="8" name="Text 6"/>
          <p:cNvSpPr/>
          <p:nvPr/>
        </p:nvSpPr>
        <p:spPr>
          <a:xfrm>
            <a:off x="620911" y="3624263"/>
            <a:ext cx="7881699" cy="248364"/>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D7E5D8"/>
                </a:solidFill>
                <a:latin typeface="Syne" pitchFamily="34" charset="0"/>
                <a:ea typeface="Syne" pitchFamily="34" charset="-122"/>
                <a:cs typeface="Syne" pitchFamily="34" charset="-120"/>
              </a:rPr>
              <a:t>Compare prices across multiple sellers to ensure you're getting fair market value</a:t>
            </a:r>
            <a:endParaRPr lang="en-US" sz="1200" dirty="0"/>
          </a:p>
        </p:txBody>
      </p:sp>
      <p:sp>
        <p:nvSpPr>
          <p:cNvPr id="9" name="Text 7"/>
          <p:cNvSpPr/>
          <p:nvPr/>
        </p:nvSpPr>
        <p:spPr>
          <a:xfrm>
            <a:off x="620911" y="3926919"/>
            <a:ext cx="7881699" cy="248364"/>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D7E5D8"/>
                </a:solidFill>
                <a:latin typeface="Syne" pitchFamily="34" charset="0"/>
                <a:ea typeface="Syne" pitchFamily="34" charset="-122"/>
                <a:cs typeface="Syne" pitchFamily="34" charset="-120"/>
              </a:rPr>
              <a:t>Read reviews and ratings from other farmers to make informed purchasing decisions</a:t>
            </a:r>
            <a:endParaRPr lang="en-US" sz="1200" dirty="0"/>
          </a:p>
        </p:txBody>
      </p:sp>
      <p:sp>
        <p:nvSpPr>
          <p:cNvPr id="10" name="Text 8"/>
          <p:cNvSpPr/>
          <p:nvPr/>
        </p:nvSpPr>
        <p:spPr>
          <a:xfrm>
            <a:off x="620911" y="4229576"/>
            <a:ext cx="7881699" cy="248364"/>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D7E5D8"/>
                </a:solidFill>
                <a:latin typeface="Syne" pitchFamily="34" charset="0"/>
                <a:ea typeface="Syne" pitchFamily="34" charset="-122"/>
                <a:cs typeface="Syne" pitchFamily="34" charset="-120"/>
              </a:rPr>
              <a:t>Secure payment processing and transaction tracking for peace of mind</a:t>
            </a:r>
            <a:endParaRPr lang="en-US" sz="1200" dirty="0"/>
          </a:p>
        </p:txBody>
      </p:sp>
      <p:sp>
        <p:nvSpPr>
          <p:cNvPr id="11" name="Text 9"/>
          <p:cNvSpPr/>
          <p:nvPr/>
        </p:nvSpPr>
        <p:spPr>
          <a:xfrm>
            <a:off x="620911" y="4532233"/>
            <a:ext cx="7881699" cy="248364"/>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D7E5D8"/>
                </a:solidFill>
                <a:latin typeface="Syne" pitchFamily="34" charset="0"/>
                <a:ea typeface="Syne" pitchFamily="34" charset="-122"/>
                <a:cs typeface="Syne" pitchFamily="34" charset="-120"/>
              </a:rPr>
              <a:t>Location-based search to find resources available near your farm</a:t>
            </a:r>
            <a:endParaRPr lang="en-US" sz="1200" dirty="0"/>
          </a:p>
        </p:txBody>
      </p:sp>
      <p:sp>
        <p:nvSpPr>
          <p:cNvPr id="12" name="Text 10"/>
          <p:cNvSpPr/>
          <p:nvPr/>
        </p:nvSpPr>
        <p:spPr>
          <a:xfrm>
            <a:off x="620911" y="4920258"/>
            <a:ext cx="7881699" cy="993458"/>
          </a:xfrm>
          <a:prstGeom prst="rect">
            <a:avLst/>
          </a:prstGeom>
          <a:noFill/>
          <a:ln/>
        </p:spPr>
        <p:txBody>
          <a:bodyPr wrap="square" lIns="0" tIns="0" rIns="0" bIns="0" rtlCol="0" anchor="t"/>
          <a:lstStyle/>
          <a:p>
            <a:pPr marL="0" indent="0" algn="l">
              <a:lnSpc>
                <a:spcPts val="1950"/>
              </a:lnSpc>
              <a:buNone/>
            </a:pPr>
            <a:r>
              <a:rPr lang="en-US" sz="1200" dirty="0">
                <a:solidFill>
                  <a:srgbClr val="D7E5D8"/>
                </a:solidFill>
                <a:latin typeface="Syne" pitchFamily="34" charset="0"/>
                <a:ea typeface="Syne" pitchFamily="34" charset="-122"/>
                <a:cs typeface="Syne" pitchFamily="34" charset="-120"/>
              </a:rPr>
              <a:t>The marketplace operates on trust and transparency. Every transaction is recorded, and both buyers and sellers can leave feedback, building a reputation system that rewards quality and reliability. This community-driven approach ensures farmers can trade with confidence, knowing they're working within a network that values integrity and fair dealing.</a:t>
            </a:r>
            <a:endParaRPr lang="en-US" sz="1200" dirty="0"/>
          </a:p>
        </p:txBody>
      </p:sp>
      <p:pic>
        <p:nvPicPr>
          <p:cNvPr id="13" name="Image 0" descr="preencoded.png"/>
          <p:cNvPicPr>
            <a:picLocks noChangeAspect="1"/>
          </p:cNvPicPr>
          <p:nvPr/>
        </p:nvPicPr>
        <p:blipFill>
          <a:blip r:embed="rId3"/>
          <a:stretch>
            <a:fillRect/>
          </a:stretch>
        </p:blipFill>
        <p:spPr>
          <a:xfrm>
            <a:off x="8888849" y="1319332"/>
            <a:ext cx="5128260" cy="5128260"/>
          </a:xfrm>
          <a:prstGeom prst="rect">
            <a:avLst/>
          </a:prstGeom>
        </p:spPr>
      </p:pic>
      <p:sp>
        <p:nvSpPr>
          <p:cNvPr id="14" name="Shape 11"/>
          <p:cNvSpPr/>
          <p:nvPr/>
        </p:nvSpPr>
        <p:spPr>
          <a:xfrm>
            <a:off x="8888849" y="6622137"/>
            <a:ext cx="5128260" cy="1404461"/>
          </a:xfrm>
          <a:prstGeom prst="roundRect">
            <a:avLst>
              <a:gd name="adj" fmla="val 4643"/>
            </a:avLst>
          </a:prstGeom>
          <a:solidFill>
            <a:srgbClr val="334805"/>
          </a:solidFill>
          <a:ln/>
        </p:spPr>
      </p:sp>
      <p:pic>
        <p:nvPicPr>
          <p:cNvPr id="15" name="Image 1" descr="preencoded.png"/>
          <p:cNvPicPr>
            <a:picLocks noChangeAspect="1"/>
          </p:cNvPicPr>
          <p:nvPr/>
        </p:nvPicPr>
        <p:blipFill>
          <a:blip r:embed="rId4"/>
          <a:stretch>
            <a:fillRect/>
          </a:stretch>
        </p:blipFill>
        <p:spPr>
          <a:xfrm>
            <a:off x="9043988" y="6847761"/>
            <a:ext cx="193953" cy="155138"/>
          </a:xfrm>
          <a:prstGeom prst="rect">
            <a:avLst/>
          </a:prstGeom>
        </p:spPr>
      </p:pic>
      <p:sp>
        <p:nvSpPr>
          <p:cNvPr id="16" name="Text 12"/>
          <p:cNvSpPr/>
          <p:nvPr/>
        </p:nvSpPr>
        <p:spPr>
          <a:xfrm>
            <a:off x="9393079" y="6815971"/>
            <a:ext cx="4468892" cy="993458"/>
          </a:xfrm>
          <a:prstGeom prst="rect">
            <a:avLst/>
          </a:prstGeom>
          <a:noFill/>
          <a:ln/>
        </p:spPr>
        <p:txBody>
          <a:bodyPr wrap="square" lIns="0" tIns="0" rIns="0" bIns="0" rtlCol="0" anchor="t"/>
          <a:lstStyle/>
          <a:p>
            <a:pPr marL="0" indent="0" algn="l">
              <a:lnSpc>
                <a:spcPts val="1950"/>
              </a:lnSpc>
              <a:buNone/>
            </a:pPr>
            <a:r>
              <a:rPr lang="en-US" sz="1200" b="1" dirty="0">
                <a:solidFill>
                  <a:srgbClr val="FFFFFF"/>
                </a:solidFill>
                <a:latin typeface="Syne" pitchFamily="34" charset="0"/>
                <a:ea typeface="Syne" pitchFamily="34" charset="-122"/>
                <a:cs typeface="Syne" pitchFamily="34" charset="-120"/>
              </a:rPr>
              <a:t>Real Impact:</a:t>
            </a:r>
            <a:r>
              <a:rPr lang="en-US" sz="1200" dirty="0">
                <a:solidFill>
                  <a:srgbClr val="FFFFFF"/>
                </a:solidFill>
                <a:latin typeface="Syne" pitchFamily="34" charset="0"/>
                <a:ea typeface="Syne" pitchFamily="34" charset="-122"/>
                <a:cs typeface="Syne" pitchFamily="34" charset="-120"/>
              </a:rPr>
              <a:t> Farmers report saving an average of 15-20% on input costs by purchasing directly through the FarmSetu marketplace, while sellers gain access to a wider customer base without additional marketing expenses.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970359"/>
            <a:ext cx="13042821" cy="1240155"/>
          </a:xfrm>
          <a:prstGeom prst="rect">
            <a:avLst/>
          </a:prstGeom>
          <a:noFill/>
          <a:ln/>
        </p:spPr>
        <p:txBody>
          <a:bodyPr wrap="square" lIns="0" tIns="0" rIns="0" bIns="0" rtlCol="0" anchor="t"/>
          <a:lstStyle/>
          <a:p>
            <a:pPr marL="0" indent="0" algn="l">
              <a:lnSpc>
                <a:spcPts val="4850"/>
              </a:lnSpc>
              <a:buNone/>
            </a:pPr>
            <a:r>
              <a:rPr lang="en-US" sz="3900" b="1" dirty="0">
                <a:solidFill>
                  <a:srgbClr val="F0F4F1"/>
                </a:solidFill>
                <a:latin typeface="Syne Extra Bold" pitchFamily="34" charset="0"/>
                <a:ea typeface="Syne Extra Bold" pitchFamily="34" charset="-122"/>
                <a:cs typeface="Syne Extra Bold" pitchFamily="34" charset="-120"/>
              </a:rPr>
              <a:t>Expert Consultation &amp; Community Connection</a:t>
            </a:r>
            <a:endParaRPr lang="en-US" sz="3900" dirty="0"/>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3790" y="2632115"/>
            <a:ext cx="198358" cy="198358"/>
          </a:xfrm>
          <a:prstGeom prst="rect">
            <a:avLst/>
          </a:prstGeom>
        </p:spPr>
      </p:pic>
      <p:sp>
        <p:nvSpPr>
          <p:cNvPr id="4" name="Shape 1"/>
          <p:cNvSpPr/>
          <p:nvPr/>
        </p:nvSpPr>
        <p:spPr>
          <a:xfrm>
            <a:off x="793790" y="2921675"/>
            <a:ext cx="4215289" cy="22860"/>
          </a:xfrm>
          <a:prstGeom prst="rect">
            <a:avLst/>
          </a:prstGeom>
          <a:solidFill>
            <a:srgbClr val="A9F00F"/>
          </a:solidFill>
          <a:ln/>
        </p:spPr>
      </p:sp>
      <p:sp>
        <p:nvSpPr>
          <p:cNvPr id="5" name="Text 2"/>
          <p:cNvSpPr/>
          <p:nvPr/>
        </p:nvSpPr>
        <p:spPr>
          <a:xfrm>
            <a:off x="793790" y="3066574"/>
            <a:ext cx="4215289" cy="620316"/>
          </a:xfrm>
          <a:prstGeom prst="rect">
            <a:avLst/>
          </a:prstGeom>
          <a:noFill/>
          <a:ln/>
        </p:spPr>
        <p:txBody>
          <a:bodyPr wrap="square" lIns="0" tIns="0" rIns="0" bIns="0" rtlCol="0" anchor="t"/>
          <a:lstStyle/>
          <a:p>
            <a:pPr marL="0" indent="0" algn="l">
              <a:lnSpc>
                <a:spcPts val="2400"/>
              </a:lnSpc>
              <a:buNone/>
            </a:pPr>
            <a:r>
              <a:rPr lang="en-US" sz="1950" b="1" dirty="0">
                <a:solidFill>
                  <a:srgbClr val="D7E5D8"/>
                </a:solidFill>
                <a:latin typeface="Syne Extra Bold" pitchFamily="34" charset="0"/>
                <a:ea typeface="Syne Extra Bold" pitchFamily="34" charset="-122"/>
                <a:cs typeface="Syne Extra Bold" pitchFamily="34" charset="-120"/>
              </a:rPr>
              <a:t>Chat with Agricultural Experts</a:t>
            </a:r>
            <a:endParaRPr lang="en-US" sz="1950" dirty="0"/>
          </a:p>
        </p:txBody>
      </p:sp>
      <p:sp>
        <p:nvSpPr>
          <p:cNvPr id="6" name="Text 3"/>
          <p:cNvSpPr/>
          <p:nvPr/>
        </p:nvSpPr>
        <p:spPr>
          <a:xfrm>
            <a:off x="793790" y="3805952"/>
            <a:ext cx="4215289" cy="1270159"/>
          </a:xfrm>
          <a:prstGeom prst="rect">
            <a:avLst/>
          </a:prstGeom>
          <a:noFill/>
          <a:ln/>
        </p:spPr>
        <p:txBody>
          <a:bodyPr wrap="square" lIns="0" tIns="0" rIns="0" bIns="0" rtlCol="0" anchor="t"/>
          <a:lstStyle/>
          <a:p>
            <a:pPr marL="0" indent="0" algn="l">
              <a:lnSpc>
                <a:spcPts val="2500"/>
              </a:lnSpc>
              <a:buNone/>
            </a:pPr>
            <a:r>
              <a:rPr lang="en-US" sz="1550" dirty="0">
                <a:solidFill>
                  <a:srgbClr val="D7E5D8"/>
                </a:solidFill>
                <a:latin typeface="Syne" pitchFamily="34" charset="0"/>
                <a:ea typeface="Syne" pitchFamily="34" charset="-122"/>
                <a:cs typeface="Syne" pitchFamily="34" charset="-120"/>
              </a:rPr>
              <a:t>Get instant answers to your farming questions through our AI-powered chatbot, available 24/7 to provide guidance on crop management, pest control, soil health, and farming best practices</a:t>
            </a:r>
            <a:endParaRPr lang="en-US" sz="1550" dirty="0"/>
          </a:p>
        </p:txBody>
      </p:sp>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07437" y="2632115"/>
            <a:ext cx="198358" cy="198358"/>
          </a:xfrm>
          <a:prstGeom prst="rect">
            <a:avLst/>
          </a:prstGeom>
        </p:spPr>
      </p:pic>
      <p:sp>
        <p:nvSpPr>
          <p:cNvPr id="8" name="Shape 4"/>
          <p:cNvSpPr/>
          <p:nvPr/>
        </p:nvSpPr>
        <p:spPr>
          <a:xfrm>
            <a:off x="5207437" y="2921675"/>
            <a:ext cx="4215408" cy="22860"/>
          </a:xfrm>
          <a:prstGeom prst="rect">
            <a:avLst/>
          </a:prstGeom>
          <a:solidFill>
            <a:srgbClr val="A9F00F"/>
          </a:solidFill>
          <a:ln/>
        </p:spPr>
      </p:sp>
      <p:sp>
        <p:nvSpPr>
          <p:cNvPr id="9" name="Text 5"/>
          <p:cNvSpPr/>
          <p:nvPr/>
        </p:nvSpPr>
        <p:spPr>
          <a:xfrm>
            <a:off x="5207437" y="3066574"/>
            <a:ext cx="4215408" cy="620316"/>
          </a:xfrm>
          <a:prstGeom prst="rect">
            <a:avLst/>
          </a:prstGeom>
          <a:noFill/>
          <a:ln/>
        </p:spPr>
        <p:txBody>
          <a:bodyPr wrap="square" lIns="0" tIns="0" rIns="0" bIns="0" rtlCol="0" anchor="t"/>
          <a:lstStyle/>
          <a:p>
            <a:pPr marL="0" indent="0" algn="l">
              <a:lnSpc>
                <a:spcPts val="2400"/>
              </a:lnSpc>
              <a:buNone/>
            </a:pPr>
            <a:r>
              <a:rPr lang="en-US" sz="1950" b="1" dirty="0">
                <a:solidFill>
                  <a:srgbClr val="D7E5D8"/>
                </a:solidFill>
                <a:latin typeface="Syne Extra Bold" pitchFamily="34" charset="0"/>
                <a:ea typeface="Syne Extra Bold" pitchFamily="34" charset="-122"/>
                <a:cs typeface="Syne Extra Bold" pitchFamily="34" charset="-120"/>
              </a:rPr>
              <a:t>One-on-One Farmer Connections</a:t>
            </a:r>
            <a:endParaRPr lang="en-US" sz="1950" dirty="0"/>
          </a:p>
        </p:txBody>
      </p:sp>
      <p:sp>
        <p:nvSpPr>
          <p:cNvPr id="10" name="Text 6"/>
          <p:cNvSpPr/>
          <p:nvPr/>
        </p:nvSpPr>
        <p:spPr>
          <a:xfrm>
            <a:off x="5207437" y="3805952"/>
            <a:ext cx="4215408" cy="1270159"/>
          </a:xfrm>
          <a:prstGeom prst="rect">
            <a:avLst/>
          </a:prstGeom>
          <a:noFill/>
          <a:ln/>
        </p:spPr>
        <p:txBody>
          <a:bodyPr wrap="square" lIns="0" tIns="0" rIns="0" bIns="0" rtlCol="0" anchor="t"/>
          <a:lstStyle/>
          <a:p>
            <a:pPr marL="0" indent="0" algn="l">
              <a:lnSpc>
                <a:spcPts val="2500"/>
              </a:lnSpc>
              <a:buNone/>
            </a:pPr>
            <a:r>
              <a:rPr lang="en-US" sz="1550" dirty="0">
                <a:solidFill>
                  <a:srgbClr val="D7E5D8"/>
                </a:solidFill>
                <a:latin typeface="Syne" pitchFamily="34" charset="0"/>
                <a:ea typeface="Syne" pitchFamily="34" charset="-122"/>
                <a:cs typeface="Syne" pitchFamily="34" charset="-120"/>
              </a:rPr>
              <a:t>Connect directly with fellow farmers for peer-to-peer knowledge sharing, advice on local conditions, and collaborative problem-solving within your agricultural community</a:t>
            </a:r>
            <a:endParaRPr lang="en-US" sz="1550" dirty="0"/>
          </a:p>
        </p:txBody>
      </p:sp>
      <p:pic>
        <p:nvPicPr>
          <p:cNvPr id="11"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21203" y="2632115"/>
            <a:ext cx="198358" cy="198358"/>
          </a:xfrm>
          <a:prstGeom prst="rect">
            <a:avLst/>
          </a:prstGeom>
        </p:spPr>
      </p:pic>
      <p:sp>
        <p:nvSpPr>
          <p:cNvPr id="12" name="Shape 7"/>
          <p:cNvSpPr/>
          <p:nvPr/>
        </p:nvSpPr>
        <p:spPr>
          <a:xfrm>
            <a:off x="9621203" y="2921675"/>
            <a:ext cx="4215289" cy="22860"/>
          </a:xfrm>
          <a:prstGeom prst="rect">
            <a:avLst/>
          </a:prstGeom>
          <a:solidFill>
            <a:srgbClr val="A9F00F"/>
          </a:solidFill>
          <a:ln/>
        </p:spPr>
      </p:sp>
      <p:sp>
        <p:nvSpPr>
          <p:cNvPr id="13" name="Text 8"/>
          <p:cNvSpPr/>
          <p:nvPr/>
        </p:nvSpPr>
        <p:spPr>
          <a:xfrm>
            <a:off x="9621203" y="3066574"/>
            <a:ext cx="3759041" cy="310158"/>
          </a:xfrm>
          <a:prstGeom prst="rect">
            <a:avLst/>
          </a:prstGeom>
          <a:noFill/>
          <a:ln/>
        </p:spPr>
        <p:txBody>
          <a:bodyPr wrap="none" lIns="0" tIns="0" rIns="0" bIns="0" rtlCol="0" anchor="t"/>
          <a:lstStyle/>
          <a:p>
            <a:pPr marL="0" indent="0" algn="l">
              <a:lnSpc>
                <a:spcPts val="2400"/>
              </a:lnSpc>
              <a:buNone/>
            </a:pPr>
            <a:r>
              <a:rPr lang="en-US" sz="1950" b="1" dirty="0">
                <a:solidFill>
                  <a:srgbClr val="D7E5D8"/>
                </a:solidFill>
                <a:latin typeface="Syne Extra Bold" pitchFamily="34" charset="0"/>
                <a:ea typeface="Syne Extra Bold" pitchFamily="34" charset="-122"/>
                <a:cs typeface="Syne Extra Bold" pitchFamily="34" charset="-120"/>
              </a:rPr>
              <a:t>Community Forum</a:t>
            </a:r>
            <a:endParaRPr lang="en-US" sz="1950" dirty="0"/>
          </a:p>
        </p:txBody>
      </p:sp>
      <p:sp>
        <p:nvSpPr>
          <p:cNvPr id="14" name="Text 9"/>
          <p:cNvSpPr/>
          <p:nvPr/>
        </p:nvSpPr>
        <p:spPr>
          <a:xfrm>
            <a:off x="9621203" y="3495794"/>
            <a:ext cx="4215289" cy="1270159"/>
          </a:xfrm>
          <a:prstGeom prst="rect">
            <a:avLst/>
          </a:prstGeom>
          <a:noFill/>
          <a:ln/>
        </p:spPr>
        <p:txBody>
          <a:bodyPr wrap="square" lIns="0" tIns="0" rIns="0" bIns="0" rtlCol="0" anchor="t"/>
          <a:lstStyle/>
          <a:p>
            <a:pPr marL="0" indent="0" algn="l">
              <a:lnSpc>
                <a:spcPts val="2500"/>
              </a:lnSpc>
              <a:buNone/>
            </a:pPr>
            <a:r>
              <a:rPr lang="en-US" sz="1550" dirty="0">
                <a:solidFill>
                  <a:srgbClr val="D7E5D8"/>
                </a:solidFill>
                <a:latin typeface="Syne" pitchFamily="34" charset="0"/>
                <a:ea typeface="Syne" pitchFamily="34" charset="-122"/>
                <a:cs typeface="Syne" pitchFamily="34" charset="-120"/>
              </a:rPr>
              <a:t>Participate in broader discussions through public posts visible to all members. Share success stories, ask questions, and learn from the collective wisdom of thousands of farmers</a:t>
            </a:r>
            <a:endParaRPr lang="en-US" sz="1550" dirty="0"/>
          </a:p>
        </p:txBody>
      </p:sp>
      <p:sp>
        <p:nvSpPr>
          <p:cNvPr id="15" name="Text 10"/>
          <p:cNvSpPr/>
          <p:nvPr/>
        </p:nvSpPr>
        <p:spPr>
          <a:xfrm>
            <a:off x="793790" y="5448181"/>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D7E5D8"/>
                </a:solidFill>
                <a:latin typeface="Syne" pitchFamily="34" charset="0"/>
                <a:ea typeface="Syne" pitchFamily="34" charset="-122"/>
                <a:cs typeface="Syne" pitchFamily="34" charset="-120"/>
              </a:rPr>
              <a:t>Agriculture thrives on shared knowledge and community support. FarmSetu creates multiple channels for farmers to connect, learn, and grow together. Whether you need quick answers from our AI expert system, want to chat privately with an experienced farmer facing similar challenges, or wish to contribute to community discussions, the platform provides the tools to build meaningful agricultural networks.</a:t>
            </a:r>
            <a:endParaRPr lang="en-US" sz="1550" dirty="0"/>
          </a:p>
        </p:txBody>
      </p:sp>
      <p:sp>
        <p:nvSpPr>
          <p:cNvPr id="16" name="Text 11"/>
          <p:cNvSpPr/>
          <p:nvPr/>
        </p:nvSpPr>
        <p:spPr>
          <a:xfrm>
            <a:off x="793790" y="6624042"/>
            <a:ext cx="13042821" cy="635079"/>
          </a:xfrm>
          <a:prstGeom prst="rect">
            <a:avLst/>
          </a:prstGeom>
          <a:noFill/>
          <a:ln/>
        </p:spPr>
        <p:txBody>
          <a:bodyPr wrap="square" lIns="0" tIns="0" rIns="0" bIns="0" rtlCol="0" anchor="t"/>
          <a:lstStyle/>
          <a:p>
            <a:pPr marL="0" indent="0" algn="l">
              <a:lnSpc>
                <a:spcPts val="2500"/>
              </a:lnSpc>
              <a:buNone/>
            </a:pPr>
            <a:r>
              <a:rPr lang="en-US" sz="1550" b="1" dirty="0">
                <a:solidFill>
                  <a:srgbClr val="81B61C"/>
                </a:solidFill>
                <a:latin typeface="Syne" pitchFamily="34" charset="0"/>
                <a:ea typeface="Syne" pitchFamily="34" charset="-122"/>
                <a:cs typeface="Syne" pitchFamily="34" charset="-120"/>
              </a:rPr>
              <a:t>Knowledge sharing accelerates innovation.</a:t>
            </a:r>
            <a:r>
              <a:rPr lang="en-US" sz="1550" dirty="0">
                <a:solidFill>
                  <a:srgbClr val="D7E5D8"/>
                </a:solidFill>
                <a:latin typeface="Syne" pitchFamily="34" charset="0"/>
                <a:ea typeface="Syne" pitchFamily="34" charset="-122"/>
                <a:cs typeface="Syne" pitchFamily="34" charset="-120"/>
              </a:rPr>
              <a:t> When farmers connect and collaborate, everyone benefits from collective experience and local expertise that no single resource could provide.</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23411" y="1246584"/>
            <a:ext cx="12479298" cy="487085"/>
          </a:xfrm>
          <a:prstGeom prst="rect">
            <a:avLst/>
          </a:prstGeom>
          <a:noFill/>
          <a:ln/>
        </p:spPr>
        <p:txBody>
          <a:bodyPr wrap="none" lIns="0" tIns="0" rIns="0" bIns="0" rtlCol="0" anchor="t"/>
          <a:lstStyle/>
          <a:p>
            <a:pPr marL="0" indent="0" algn="l">
              <a:lnSpc>
                <a:spcPts val="3800"/>
              </a:lnSpc>
              <a:buNone/>
            </a:pPr>
            <a:r>
              <a:rPr lang="en-US" sz="3050" b="1" dirty="0">
                <a:solidFill>
                  <a:srgbClr val="F0F4F1"/>
                </a:solidFill>
                <a:latin typeface="Syne Extra Bold" pitchFamily="34" charset="0"/>
                <a:ea typeface="Syne Extra Bold" pitchFamily="34" charset="-122"/>
                <a:cs typeface="Syne Extra Bold" pitchFamily="34" charset="-120"/>
              </a:rPr>
              <a:t>Real-Time Market Analysis &amp; Intelligence</a:t>
            </a:r>
            <a:endParaRPr lang="en-US" sz="3050" dirty="0"/>
          </a:p>
        </p:txBody>
      </p:sp>
      <p:sp>
        <p:nvSpPr>
          <p:cNvPr id="3" name="Text 1"/>
          <p:cNvSpPr/>
          <p:nvPr/>
        </p:nvSpPr>
        <p:spPr>
          <a:xfrm>
            <a:off x="623411" y="2123242"/>
            <a:ext cx="5284470" cy="292298"/>
          </a:xfrm>
          <a:prstGeom prst="rect">
            <a:avLst/>
          </a:prstGeom>
          <a:noFill/>
          <a:ln/>
        </p:spPr>
        <p:txBody>
          <a:bodyPr wrap="none" lIns="0" tIns="0" rIns="0" bIns="0" rtlCol="0" anchor="t"/>
          <a:lstStyle/>
          <a:p>
            <a:pPr marL="0" indent="0" algn="l">
              <a:lnSpc>
                <a:spcPts val="2300"/>
              </a:lnSpc>
              <a:buNone/>
            </a:pPr>
            <a:r>
              <a:rPr lang="en-US" sz="1800" b="1" dirty="0">
                <a:solidFill>
                  <a:srgbClr val="A9F00F"/>
                </a:solidFill>
                <a:latin typeface="Syne Extra Bold" pitchFamily="34" charset="0"/>
                <a:ea typeface="Syne Extra Bold" pitchFamily="34" charset="-122"/>
                <a:cs typeface="Syne Extra Bold" pitchFamily="34" charset="-120"/>
              </a:rPr>
              <a:t>Make Data-Driven Decisions</a:t>
            </a:r>
            <a:endParaRPr lang="en-US" sz="1800" dirty="0"/>
          </a:p>
        </p:txBody>
      </p:sp>
      <p:sp>
        <p:nvSpPr>
          <p:cNvPr id="4" name="Text 2"/>
          <p:cNvSpPr/>
          <p:nvPr/>
        </p:nvSpPr>
        <p:spPr>
          <a:xfrm>
            <a:off x="623411" y="2571393"/>
            <a:ext cx="5813346" cy="997268"/>
          </a:xfrm>
          <a:prstGeom prst="rect">
            <a:avLst/>
          </a:prstGeom>
          <a:noFill/>
          <a:ln/>
        </p:spPr>
        <p:txBody>
          <a:bodyPr wrap="square" lIns="0" tIns="0" rIns="0" bIns="0" rtlCol="0" anchor="t"/>
          <a:lstStyle/>
          <a:p>
            <a:pPr marL="0" indent="0" algn="l">
              <a:lnSpc>
                <a:spcPts val="1950"/>
              </a:lnSpc>
              <a:buNone/>
            </a:pPr>
            <a:r>
              <a:rPr lang="en-US" sz="1200" dirty="0">
                <a:solidFill>
                  <a:srgbClr val="D7E5D8"/>
                </a:solidFill>
                <a:latin typeface="Syne" pitchFamily="34" charset="0"/>
                <a:ea typeface="Syne" pitchFamily="34" charset="-122"/>
                <a:cs typeface="Syne" pitchFamily="34" charset="-120"/>
              </a:rPr>
              <a:t>Understanding market conditions is crucial for maximizing farm profitability. FarmSetu's Real-Time Market Analysis provides comprehensive insights into crop prices, market trends, and profitability forecasts, empowering farmers to make informed decisions about what to plant, when to harvest, and where to sell.</a:t>
            </a:r>
            <a:endParaRPr lang="en-US" sz="1200" dirty="0"/>
          </a:p>
        </p:txBody>
      </p:sp>
      <p:sp>
        <p:nvSpPr>
          <p:cNvPr id="5" name="Text 3"/>
          <p:cNvSpPr/>
          <p:nvPr/>
        </p:nvSpPr>
        <p:spPr>
          <a:xfrm>
            <a:off x="623411" y="3708916"/>
            <a:ext cx="5813346" cy="249317"/>
          </a:xfrm>
          <a:prstGeom prst="rect">
            <a:avLst/>
          </a:prstGeom>
          <a:noFill/>
          <a:ln/>
        </p:spPr>
        <p:txBody>
          <a:bodyPr wrap="none" lIns="0" tIns="0" rIns="0" bIns="0" rtlCol="0" anchor="t"/>
          <a:lstStyle/>
          <a:p>
            <a:pPr marL="0" indent="0" algn="l">
              <a:lnSpc>
                <a:spcPts val="1950"/>
              </a:lnSpc>
              <a:buNone/>
            </a:pPr>
            <a:r>
              <a:rPr lang="en-US" sz="1200" b="1" dirty="0">
                <a:solidFill>
                  <a:srgbClr val="D7E5D8"/>
                </a:solidFill>
                <a:latin typeface="Syne" pitchFamily="34" charset="0"/>
                <a:ea typeface="Syne" pitchFamily="34" charset="-122"/>
                <a:cs typeface="Syne" pitchFamily="34" charset="-120"/>
              </a:rPr>
              <a:t>Platform Capabilities:</a:t>
            </a:r>
            <a:endParaRPr lang="en-US" sz="1200" dirty="0"/>
          </a:p>
        </p:txBody>
      </p:sp>
      <p:sp>
        <p:nvSpPr>
          <p:cNvPr id="6" name="Text 4"/>
          <p:cNvSpPr/>
          <p:nvPr/>
        </p:nvSpPr>
        <p:spPr>
          <a:xfrm>
            <a:off x="623411" y="4098488"/>
            <a:ext cx="5813346" cy="249317"/>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D7E5D8"/>
                </a:solidFill>
                <a:latin typeface="Syne" pitchFamily="34" charset="0"/>
                <a:ea typeface="Syne" pitchFamily="34" charset="-122"/>
                <a:cs typeface="Syne" pitchFamily="34" charset="-120"/>
              </a:rPr>
              <a:t>Live price updates for major crops across different markets and regions</a:t>
            </a:r>
            <a:endParaRPr lang="en-US" sz="1200" dirty="0"/>
          </a:p>
        </p:txBody>
      </p:sp>
      <p:sp>
        <p:nvSpPr>
          <p:cNvPr id="7" name="Text 5"/>
          <p:cNvSpPr/>
          <p:nvPr/>
        </p:nvSpPr>
        <p:spPr>
          <a:xfrm>
            <a:off x="623411" y="4402336"/>
            <a:ext cx="5813346" cy="249317"/>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D7E5D8"/>
                </a:solidFill>
                <a:latin typeface="Syne" pitchFamily="34" charset="0"/>
                <a:ea typeface="Syne" pitchFamily="34" charset="-122"/>
                <a:cs typeface="Syne" pitchFamily="34" charset="-120"/>
              </a:rPr>
              <a:t>Historical trend analysis showing weekly, monthly, and yearly price patterns</a:t>
            </a:r>
            <a:endParaRPr lang="en-US" sz="1200" dirty="0"/>
          </a:p>
        </p:txBody>
      </p:sp>
      <p:sp>
        <p:nvSpPr>
          <p:cNvPr id="8" name="Text 6"/>
          <p:cNvSpPr/>
          <p:nvPr/>
        </p:nvSpPr>
        <p:spPr>
          <a:xfrm>
            <a:off x="623411" y="4706183"/>
            <a:ext cx="5813346" cy="249317"/>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D7E5D8"/>
                </a:solidFill>
                <a:latin typeface="Syne" pitchFamily="34" charset="0"/>
                <a:ea typeface="Syne" pitchFamily="34" charset="-122"/>
                <a:cs typeface="Syne" pitchFamily="34" charset="-120"/>
              </a:rPr>
              <a:t>Profit and loss projections based on current market conditions</a:t>
            </a:r>
            <a:endParaRPr lang="en-US" sz="1200" dirty="0"/>
          </a:p>
        </p:txBody>
      </p:sp>
      <p:sp>
        <p:nvSpPr>
          <p:cNvPr id="9" name="Text 7"/>
          <p:cNvSpPr/>
          <p:nvPr/>
        </p:nvSpPr>
        <p:spPr>
          <a:xfrm>
            <a:off x="623411" y="5010031"/>
            <a:ext cx="5813346" cy="249317"/>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D7E5D8"/>
                </a:solidFill>
                <a:latin typeface="Syne" pitchFamily="34" charset="0"/>
                <a:ea typeface="Syne" pitchFamily="34" charset="-122"/>
                <a:cs typeface="Syne" pitchFamily="34" charset="-120"/>
              </a:rPr>
              <a:t>Interactive charts and graphs for easy data visualization</a:t>
            </a:r>
            <a:endParaRPr lang="en-US" sz="1200" dirty="0"/>
          </a:p>
        </p:txBody>
      </p:sp>
      <p:sp>
        <p:nvSpPr>
          <p:cNvPr id="10" name="Text 8"/>
          <p:cNvSpPr/>
          <p:nvPr/>
        </p:nvSpPr>
        <p:spPr>
          <a:xfrm>
            <a:off x="623411" y="5313878"/>
            <a:ext cx="5813346" cy="249317"/>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D7E5D8"/>
                </a:solidFill>
                <a:latin typeface="Syne" pitchFamily="34" charset="0"/>
                <a:ea typeface="Syne" pitchFamily="34" charset="-122"/>
                <a:cs typeface="Syne" pitchFamily="34" charset="-120"/>
              </a:rPr>
              <a:t>Market alerts and notifications for significant price movements</a:t>
            </a:r>
            <a:endParaRPr lang="en-US" sz="1200" dirty="0"/>
          </a:p>
        </p:txBody>
      </p:sp>
      <p:sp>
        <p:nvSpPr>
          <p:cNvPr id="11" name="Text 9"/>
          <p:cNvSpPr/>
          <p:nvPr/>
        </p:nvSpPr>
        <p:spPr>
          <a:xfrm>
            <a:off x="623411" y="5617726"/>
            <a:ext cx="5813346" cy="249317"/>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D7E5D8"/>
                </a:solidFill>
                <a:latin typeface="Syne" pitchFamily="34" charset="0"/>
                <a:ea typeface="Syne" pitchFamily="34" charset="-122"/>
                <a:cs typeface="Syne" pitchFamily="34" charset="-120"/>
              </a:rPr>
              <a:t>Comparative analysis across different crops to optimize planting decisions</a:t>
            </a:r>
            <a:endParaRPr lang="en-US" sz="1200" dirty="0"/>
          </a:p>
        </p:txBody>
      </p:sp>
      <p:sp>
        <p:nvSpPr>
          <p:cNvPr id="12" name="Text 10"/>
          <p:cNvSpPr/>
          <p:nvPr/>
        </p:nvSpPr>
        <p:spPr>
          <a:xfrm>
            <a:off x="623411" y="6007298"/>
            <a:ext cx="5813346" cy="747951"/>
          </a:xfrm>
          <a:prstGeom prst="rect">
            <a:avLst/>
          </a:prstGeom>
          <a:noFill/>
          <a:ln/>
        </p:spPr>
        <p:txBody>
          <a:bodyPr wrap="square" lIns="0" tIns="0" rIns="0" bIns="0" rtlCol="0" anchor="t"/>
          <a:lstStyle/>
          <a:p>
            <a:pPr marL="0" indent="0" algn="l">
              <a:lnSpc>
                <a:spcPts val="1950"/>
              </a:lnSpc>
              <a:buNone/>
            </a:pPr>
            <a:r>
              <a:rPr lang="en-US" sz="1200" dirty="0">
                <a:solidFill>
                  <a:srgbClr val="D7E5D8"/>
                </a:solidFill>
                <a:latin typeface="Syne" pitchFamily="34" charset="0"/>
                <a:ea typeface="Syne" pitchFamily="34" charset="-122"/>
                <a:cs typeface="Syne" pitchFamily="34" charset="-120"/>
              </a:rPr>
              <a:t>The platform aggregates data from multiple sources, providing a comprehensive view of market dynamics. Farmers can track specific crops relevant to their operations and receive customized insights based on their location and farming practices.</a:t>
            </a:r>
            <a:endParaRPr lang="en-US" sz="1200" dirty="0"/>
          </a:p>
        </p:txBody>
      </p:sp>
      <p:pic>
        <p:nvPicPr>
          <p:cNvPr id="13" name="Image 0" descr="preencoded.png"/>
          <p:cNvPicPr>
            <a:picLocks noChangeAspect="1"/>
          </p:cNvPicPr>
          <p:nvPr/>
        </p:nvPicPr>
        <p:blipFill>
          <a:blip r:embed="rId3"/>
          <a:stretch>
            <a:fillRect/>
          </a:stretch>
        </p:blipFill>
        <p:spPr>
          <a:xfrm>
            <a:off x="6824662" y="2142649"/>
            <a:ext cx="7189827" cy="3558540"/>
          </a:xfrm>
          <a:prstGeom prst="rect">
            <a:avLst/>
          </a:prstGeom>
        </p:spPr>
      </p:pic>
      <p:sp>
        <p:nvSpPr>
          <p:cNvPr id="14" name="Shape 11"/>
          <p:cNvSpPr/>
          <p:nvPr/>
        </p:nvSpPr>
        <p:spPr>
          <a:xfrm>
            <a:off x="8427720" y="5701189"/>
            <a:ext cx="155853" cy="155853"/>
          </a:xfrm>
          <a:prstGeom prst="roundRect">
            <a:avLst>
              <a:gd name="adj" fmla="val 11734"/>
            </a:avLst>
          </a:prstGeom>
          <a:solidFill>
            <a:srgbClr val="517307"/>
          </a:solidFill>
          <a:ln/>
        </p:spPr>
      </p:sp>
      <p:sp>
        <p:nvSpPr>
          <p:cNvPr id="15" name="Text 12"/>
          <p:cNvSpPr/>
          <p:nvPr/>
        </p:nvSpPr>
        <p:spPr>
          <a:xfrm>
            <a:off x="8644533" y="5701189"/>
            <a:ext cx="475059" cy="155853"/>
          </a:xfrm>
          <a:prstGeom prst="rect">
            <a:avLst/>
          </a:prstGeom>
          <a:noFill/>
          <a:ln/>
        </p:spPr>
        <p:txBody>
          <a:bodyPr wrap="none" lIns="0" tIns="0" rIns="0" bIns="0" rtlCol="0" anchor="t"/>
          <a:lstStyle/>
          <a:p>
            <a:pPr marL="0" indent="0" algn="l">
              <a:lnSpc>
                <a:spcPts val="1200"/>
              </a:lnSpc>
              <a:buNone/>
            </a:pPr>
            <a:r>
              <a:rPr lang="en-US" sz="1200" dirty="0">
                <a:solidFill>
                  <a:srgbClr val="D7E5D8"/>
                </a:solidFill>
                <a:latin typeface="Syne" pitchFamily="34" charset="0"/>
                <a:ea typeface="Syne" pitchFamily="34" charset="-122"/>
                <a:cs typeface="Syne" pitchFamily="34" charset="-120"/>
              </a:rPr>
              <a:t>Wheat</a:t>
            </a:r>
            <a:endParaRPr lang="en-US" sz="1200" dirty="0"/>
          </a:p>
        </p:txBody>
      </p:sp>
      <p:sp>
        <p:nvSpPr>
          <p:cNvPr id="16" name="Shape 13"/>
          <p:cNvSpPr/>
          <p:nvPr/>
        </p:nvSpPr>
        <p:spPr>
          <a:xfrm>
            <a:off x="10159484" y="5701189"/>
            <a:ext cx="155853" cy="155853"/>
          </a:xfrm>
          <a:prstGeom prst="roundRect">
            <a:avLst>
              <a:gd name="adj" fmla="val 11734"/>
            </a:avLst>
          </a:prstGeom>
          <a:solidFill>
            <a:srgbClr val="A1E50E"/>
          </a:solidFill>
          <a:ln/>
        </p:spPr>
      </p:sp>
      <p:sp>
        <p:nvSpPr>
          <p:cNvPr id="17" name="Text 14"/>
          <p:cNvSpPr/>
          <p:nvPr/>
        </p:nvSpPr>
        <p:spPr>
          <a:xfrm>
            <a:off x="10376297" y="5701189"/>
            <a:ext cx="303252" cy="155853"/>
          </a:xfrm>
          <a:prstGeom prst="rect">
            <a:avLst/>
          </a:prstGeom>
          <a:noFill/>
          <a:ln/>
        </p:spPr>
        <p:txBody>
          <a:bodyPr wrap="none" lIns="0" tIns="0" rIns="0" bIns="0" rtlCol="0" anchor="t"/>
          <a:lstStyle/>
          <a:p>
            <a:pPr marL="0" indent="0" algn="l">
              <a:lnSpc>
                <a:spcPts val="1200"/>
              </a:lnSpc>
              <a:buNone/>
            </a:pPr>
            <a:r>
              <a:rPr lang="en-US" sz="1200" dirty="0">
                <a:solidFill>
                  <a:srgbClr val="D7E5D8"/>
                </a:solidFill>
                <a:latin typeface="Syne" pitchFamily="34" charset="0"/>
                <a:ea typeface="Syne" pitchFamily="34" charset="-122"/>
                <a:cs typeface="Syne" pitchFamily="34" charset="-120"/>
              </a:rPr>
              <a:t>Rice</a:t>
            </a:r>
            <a:endParaRPr lang="en-US" sz="1200" dirty="0"/>
          </a:p>
        </p:txBody>
      </p:sp>
      <p:sp>
        <p:nvSpPr>
          <p:cNvPr id="18" name="Shape 15"/>
          <p:cNvSpPr/>
          <p:nvPr/>
        </p:nvSpPr>
        <p:spPr>
          <a:xfrm>
            <a:off x="11719441" y="5701189"/>
            <a:ext cx="155853" cy="155853"/>
          </a:xfrm>
          <a:prstGeom prst="roundRect">
            <a:avLst>
              <a:gd name="adj" fmla="val 11734"/>
            </a:avLst>
          </a:prstGeom>
          <a:solidFill>
            <a:srgbClr val="CEF675"/>
          </a:solidFill>
          <a:ln/>
        </p:spPr>
      </p:sp>
      <p:sp>
        <p:nvSpPr>
          <p:cNvPr id="19" name="Text 16"/>
          <p:cNvSpPr/>
          <p:nvPr/>
        </p:nvSpPr>
        <p:spPr>
          <a:xfrm>
            <a:off x="11936254" y="5701189"/>
            <a:ext cx="476012" cy="155853"/>
          </a:xfrm>
          <a:prstGeom prst="rect">
            <a:avLst/>
          </a:prstGeom>
          <a:noFill/>
          <a:ln/>
        </p:spPr>
        <p:txBody>
          <a:bodyPr wrap="none" lIns="0" tIns="0" rIns="0" bIns="0" rtlCol="0" anchor="t"/>
          <a:lstStyle/>
          <a:p>
            <a:pPr marL="0" indent="0" algn="l">
              <a:lnSpc>
                <a:spcPts val="1200"/>
              </a:lnSpc>
              <a:buNone/>
            </a:pPr>
            <a:r>
              <a:rPr lang="en-US" sz="1200" dirty="0">
                <a:solidFill>
                  <a:srgbClr val="D7E5D8"/>
                </a:solidFill>
                <a:latin typeface="Syne" pitchFamily="34" charset="0"/>
                <a:ea typeface="Syne" pitchFamily="34" charset="-122"/>
                <a:cs typeface="Syne" pitchFamily="34" charset="-120"/>
              </a:rPr>
              <a:t>Cotton</a:t>
            </a:r>
            <a:endParaRPr lang="en-US" sz="1200" dirty="0"/>
          </a:p>
        </p:txBody>
      </p:sp>
      <p:sp>
        <p:nvSpPr>
          <p:cNvPr id="20" name="Text 17"/>
          <p:cNvSpPr/>
          <p:nvPr/>
        </p:nvSpPr>
        <p:spPr>
          <a:xfrm>
            <a:off x="6824662" y="6344126"/>
            <a:ext cx="7189827" cy="498634"/>
          </a:xfrm>
          <a:prstGeom prst="rect">
            <a:avLst/>
          </a:prstGeom>
          <a:noFill/>
          <a:ln/>
        </p:spPr>
        <p:txBody>
          <a:bodyPr wrap="square" lIns="0" tIns="0" rIns="0" bIns="0" rtlCol="0" anchor="t"/>
          <a:lstStyle/>
          <a:p>
            <a:pPr marL="0" indent="0" algn="l">
              <a:lnSpc>
                <a:spcPts val="1950"/>
              </a:lnSpc>
              <a:buNone/>
            </a:pPr>
            <a:r>
              <a:rPr lang="en-US" sz="1200" dirty="0">
                <a:solidFill>
                  <a:srgbClr val="D7E5D8"/>
                </a:solidFill>
                <a:latin typeface="Syne" pitchFamily="34" charset="0"/>
                <a:ea typeface="Syne" pitchFamily="34" charset="-122"/>
                <a:cs typeface="Syne" pitchFamily="34" charset="-120"/>
              </a:rPr>
              <a:t>Sample market trends showing price movements across key agricultural commodities. Access real-time data for hundreds of crops on the FarmSetu platform.</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75536" y="326946"/>
            <a:ext cx="10560963" cy="371594"/>
          </a:xfrm>
          <a:prstGeom prst="rect">
            <a:avLst/>
          </a:prstGeom>
          <a:noFill/>
          <a:ln/>
        </p:spPr>
        <p:txBody>
          <a:bodyPr wrap="none" lIns="0" tIns="0" rIns="0" bIns="0" rtlCol="0" anchor="t"/>
          <a:lstStyle/>
          <a:p>
            <a:pPr marL="0" indent="0" algn="l">
              <a:lnSpc>
                <a:spcPts val="2900"/>
              </a:lnSpc>
              <a:buNone/>
            </a:pPr>
            <a:r>
              <a:rPr lang="en-US" sz="2300" b="1" dirty="0">
                <a:solidFill>
                  <a:srgbClr val="F0F4F1"/>
                </a:solidFill>
                <a:latin typeface="Syne Extra Bold" pitchFamily="34" charset="0"/>
                <a:ea typeface="Syne Extra Bold" pitchFamily="34" charset="-122"/>
                <a:cs typeface="Syne Extra Bold" pitchFamily="34" charset="-120"/>
              </a:rPr>
              <a:t>Comprehensive Information &amp; Resource Hub</a:t>
            </a:r>
            <a:endParaRPr lang="en-US" sz="2300" dirty="0"/>
          </a:p>
        </p:txBody>
      </p:sp>
      <p:sp>
        <p:nvSpPr>
          <p:cNvPr id="3" name="Text 1"/>
          <p:cNvSpPr/>
          <p:nvPr/>
        </p:nvSpPr>
        <p:spPr>
          <a:xfrm>
            <a:off x="475536" y="1055132"/>
            <a:ext cx="2353389" cy="185738"/>
          </a:xfrm>
          <a:prstGeom prst="rect">
            <a:avLst/>
          </a:prstGeom>
          <a:noFill/>
          <a:ln/>
        </p:spPr>
        <p:txBody>
          <a:bodyPr wrap="none" lIns="0" tIns="0" rIns="0" bIns="0" rtlCol="0" anchor="t"/>
          <a:lstStyle/>
          <a:p>
            <a:pPr marL="0" indent="0" algn="l">
              <a:lnSpc>
                <a:spcPts val="1450"/>
              </a:lnSpc>
              <a:buNone/>
            </a:pPr>
            <a:r>
              <a:rPr lang="en-US" sz="1150" b="1" dirty="0">
                <a:solidFill>
                  <a:srgbClr val="D7E5D8"/>
                </a:solidFill>
                <a:latin typeface="Syne Extra Bold" pitchFamily="34" charset="0"/>
                <a:ea typeface="Syne Extra Bold" pitchFamily="34" charset="-122"/>
                <a:cs typeface="Syne Extra Bold" pitchFamily="34" charset="-120"/>
              </a:rPr>
              <a:t>Weather Monitoring</a:t>
            </a:r>
            <a:endParaRPr lang="en-US" sz="1150" dirty="0"/>
          </a:p>
        </p:txBody>
      </p:sp>
      <p:sp>
        <p:nvSpPr>
          <p:cNvPr id="4" name="Text 2"/>
          <p:cNvSpPr/>
          <p:nvPr/>
        </p:nvSpPr>
        <p:spPr>
          <a:xfrm>
            <a:off x="475536" y="1312188"/>
            <a:ext cx="4460677" cy="570786"/>
          </a:xfrm>
          <a:prstGeom prst="rect">
            <a:avLst/>
          </a:prstGeom>
          <a:noFill/>
          <a:ln/>
        </p:spPr>
        <p:txBody>
          <a:bodyPr wrap="square" lIns="0" tIns="0" rIns="0" bIns="0" rtlCol="0" anchor="t"/>
          <a:lstStyle/>
          <a:p>
            <a:pPr marL="0" indent="0" algn="l">
              <a:lnSpc>
                <a:spcPts val="1450"/>
              </a:lnSpc>
              <a:buNone/>
            </a:pPr>
            <a:r>
              <a:rPr lang="en-US" sz="900" dirty="0">
                <a:solidFill>
                  <a:srgbClr val="D7E5D8"/>
                </a:solidFill>
                <a:latin typeface="Syne" pitchFamily="34" charset="0"/>
                <a:ea typeface="Syne" pitchFamily="34" charset="-122"/>
                <a:cs typeface="Syne" pitchFamily="34" charset="-120"/>
              </a:rPr>
              <a:t>Stay ahead of weather conditions with localized forecasts and severe weather alerts. Receive timely notifications about rainfall, temperature changes, and adverse conditions that could impact your crops, allowing proactive farm management.</a:t>
            </a:r>
            <a:endParaRPr lang="en-US" sz="900" dirty="0"/>
          </a:p>
        </p:txBody>
      </p:sp>
      <p:sp>
        <p:nvSpPr>
          <p:cNvPr id="5" name="Text 3"/>
          <p:cNvSpPr/>
          <p:nvPr/>
        </p:nvSpPr>
        <p:spPr>
          <a:xfrm>
            <a:off x="5084802" y="1055132"/>
            <a:ext cx="2790111" cy="185738"/>
          </a:xfrm>
          <a:prstGeom prst="rect">
            <a:avLst/>
          </a:prstGeom>
          <a:noFill/>
          <a:ln/>
        </p:spPr>
        <p:txBody>
          <a:bodyPr wrap="none" lIns="0" tIns="0" rIns="0" bIns="0" rtlCol="0" anchor="t"/>
          <a:lstStyle/>
          <a:p>
            <a:pPr marL="0" indent="0" algn="l">
              <a:lnSpc>
                <a:spcPts val="1450"/>
              </a:lnSpc>
              <a:buNone/>
            </a:pPr>
            <a:r>
              <a:rPr lang="en-US" sz="1150" b="1" dirty="0">
                <a:solidFill>
                  <a:srgbClr val="D7E5D8"/>
                </a:solidFill>
                <a:latin typeface="Syne Extra Bold" pitchFamily="34" charset="0"/>
                <a:ea typeface="Syne Extra Bold" pitchFamily="34" charset="-122"/>
                <a:cs typeface="Syne Extra Bold" pitchFamily="34" charset="-120"/>
              </a:rPr>
              <a:t>Latest Agriculture News</a:t>
            </a:r>
            <a:endParaRPr lang="en-US" sz="1150" dirty="0"/>
          </a:p>
        </p:txBody>
      </p:sp>
      <p:sp>
        <p:nvSpPr>
          <p:cNvPr id="6" name="Text 4"/>
          <p:cNvSpPr/>
          <p:nvPr/>
        </p:nvSpPr>
        <p:spPr>
          <a:xfrm>
            <a:off x="5084802" y="1312188"/>
            <a:ext cx="4460677" cy="570786"/>
          </a:xfrm>
          <a:prstGeom prst="rect">
            <a:avLst/>
          </a:prstGeom>
          <a:noFill/>
          <a:ln/>
        </p:spPr>
        <p:txBody>
          <a:bodyPr wrap="square" lIns="0" tIns="0" rIns="0" bIns="0" rtlCol="0" anchor="t"/>
          <a:lstStyle/>
          <a:p>
            <a:pPr marL="0" indent="0" algn="l">
              <a:lnSpc>
                <a:spcPts val="1450"/>
              </a:lnSpc>
              <a:buNone/>
            </a:pPr>
            <a:r>
              <a:rPr lang="en-US" sz="900" dirty="0">
                <a:solidFill>
                  <a:srgbClr val="D7E5D8"/>
                </a:solidFill>
                <a:latin typeface="Syne" pitchFamily="34" charset="0"/>
                <a:ea typeface="Syne" pitchFamily="34" charset="-122"/>
                <a:cs typeface="Syne" pitchFamily="34" charset="-120"/>
              </a:rPr>
              <a:t>Keep up-to-date with the latest farming innovations, technologies, market developments, and policy changes. Our curated news feed ensures you never miss important information that could benefit your farming operations.</a:t>
            </a:r>
            <a:endParaRPr lang="en-US" sz="900" dirty="0"/>
          </a:p>
        </p:txBody>
      </p:sp>
      <p:sp>
        <p:nvSpPr>
          <p:cNvPr id="7" name="Text 5"/>
          <p:cNvSpPr/>
          <p:nvPr/>
        </p:nvSpPr>
        <p:spPr>
          <a:xfrm>
            <a:off x="9694069" y="1055132"/>
            <a:ext cx="2745581" cy="185738"/>
          </a:xfrm>
          <a:prstGeom prst="rect">
            <a:avLst/>
          </a:prstGeom>
          <a:noFill/>
          <a:ln/>
        </p:spPr>
        <p:txBody>
          <a:bodyPr wrap="none" lIns="0" tIns="0" rIns="0" bIns="0" rtlCol="0" anchor="t"/>
          <a:lstStyle/>
          <a:p>
            <a:pPr marL="0" indent="0" algn="l">
              <a:lnSpc>
                <a:spcPts val="1450"/>
              </a:lnSpc>
              <a:buNone/>
            </a:pPr>
            <a:r>
              <a:rPr lang="en-US" sz="1150" b="1" dirty="0">
                <a:solidFill>
                  <a:srgbClr val="D7E5D8"/>
                </a:solidFill>
                <a:latin typeface="Syne Extra Bold" pitchFamily="34" charset="0"/>
                <a:ea typeface="Syne Extra Bold" pitchFamily="34" charset="-122"/>
                <a:cs typeface="Syne Extra Bold" pitchFamily="34" charset="-120"/>
              </a:rPr>
              <a:t>Educational Resources</a:t>
            </a:r>
            <a:endParaRPr lang="en-US" sz="1150" dirty="0"/>
          </a:p>
        </p:txBody>
      </p:sp>
      <p:sp>
        <p:nvSpPr>
          <p:cNvPr id="8" name="Text 6"/>
          <p:cNvSpPr/>
          <p:nvPr/>
        </p:nvSpPr>
        <p:spPr>
          <a:xfrm>
            <a:off x="9694069" y="1312188"/>
            <a:ext cx="4460677" cy="570786"/>
          </a:xfrm>
          <a:prstGeom prst="rect">
            <a:avLst/>
          </a:prstGeom>
          <a:noFill/>
          <a:ln/>
        </p:spPr>
        <p:txBody>
          <a:bodyPr wrap="square" lIns="0" tIns="0" rIns="0" bIns="0" rtlCol="0" anchor="t"/>
          <a:lstStyle/>
          <a:p>
            <a:pPr marL="0" indent="0" algn="l">
              <a:lnSpc>
                <a:spcPts val="1450"/>
              </a:lnSpc>
              <a:buNone/>
            </a:pPr>
            <a:r>
              <a:rPr lang="en-US" sz="900" dirty="0">
                <a:solidFill>
                  <a:srgbClr val="D7E5D8"/>
                </a:solidFill>
                <a:latin typeface="Syne" pitchFamily="34" charset="0"/>
                <a:ea typeface="Syne" pitchFamily="34" charset="-122"/>
                <a:cs typeface="Syne" pitchFamily="34" charset="-120"/>
              </a:rPr>
              <a:t>Access comprehensive learning materials including video lectures, tutorials, and guides on modern farming techniques. Continuous education empowers farmers to adopt new technologies and improve their agricultural practices.</a:t>
            </a:r>
            <a:endParaRPr lang="en-US" sz="900" dirty="0"/>
          </a:p>
        </p:txBody>
      </p:sp>
      <p:sp>
        <p:nvSpPr>
          <p:cNvPr id="9" name="Text 7"/>
          <p:cNvSpPr/>
          <p:nvPr/>
        </p:nvSpPr>
        <p:spPr>
          <a:xfrm>
            <a:off x="475536" y="2135505"/>
            <a:ext cx="4918472" cy="222885"/>
          </a:xfrm>
          <a:prstGeom prst="rect">
            <a:avLst/>
          </a:prstGeom>
          <a:noFill/>
          <a:ln/>
        </p:spPr>
        <p:txBody>
          <a:bodyPr wrap="none" lIns="0" tIns="0" rIns="0" bIns="0" rtlCol="0" anchor="t"/>
          <a:lstStyle/>
          <a:p>
            <a:pPr marL="0" indent="0" algn="l">
              <a:lnSpc>
                <a:spcPts val="1750"/>
              </a:lnSpc>
              <a:buNone/>
            </a:pPr>
            <a:r>
              <a:rPr lang="en-US" sz="1400" b="1" dirty="0">
                <a:solidFill>
                  <a:srgbClr val="81B61C"/>
                </a:solidFill>
                <a:latin typeface="Syne Extra Bold" pitchFamily="34" charset="0"/>
                <a:ea typeface="Syne Extra Bold" pitchFamily="34" charset="-122"/>
                <a:cs typeface="Syne Extra Bold" pitchFamily="34" charset="-120"/>
              </a:rPr>
              <a:t>Government Schemes &amp; Insurance</a:t>
            </a:r>
            <a:endParaRPr lang="en-US" sz="1400" dirty="0"/>
          </a:p>
        </p:txBody>
      </p:sp>
      <p:sp>
        <p:nvSpPr>
          <p:cNvPr id="10" name="Text 8"/>
          <p:cNvSpPr/>
          <p:nvPr/>
        </p:nvSpPr>
        <p:spPr>
          <a:xfrm>
            <a:off x="475536" y="2477214"/>
            <a:ext cx="6694646" cy="570786"/>
          </a:xfrm>
          <a:prstGeom prst="rect">
            <a:avLst/>
          </a:prstGeom>
          <a:noFill/>
          <a:ln/>
        </p:spPr>
        <p:txBody>
          <a:bodyPr wrap="square" lIns="0" tIns="0" rIns="0" bIns="0" rtlCol="0" anchor="t"/>
          <a:lstStyle/>
          <a:p>
            <a:pPr marL="0" indent="0" algn="l">
              <a:lnSpc>
                <a:spcPts val="1450"/>
              </a:lnSpc>
              <a:buNone/>
            </a:pPr>
            <a:r>
              <a:rPr lang="en-US" sz="900" dirty="0">
                <a:solidFill>
                  <a:srgbClr val="D7E5D8"/>
                </a:solidFill>
                <a:latin typeface="Syne" pitchFamily="34" charset="0"/>
                <a:ea typeface="Syne" pitchFamily="34" charset="-122"/>
                <a:cs typeface="Syne" pitchFamily="34" charset="-120"/>
              </a:rPr>
              <a:t>Navigate the complex landscape of government agricultural programs with ease. FarmSetu provides detailed information about various schemes designed to support farmers, including subsidies, loans, and assistance programs. We break down eligibility requirements, application processes, and benefits in simple language.</a:t>
            </a:r>
            <a:endParaRPr lang="en-US" sz="900" dirty="0"/>
          </a:p>
        </p:txBody>
      </p:sp>
      <p:sp>
        <p:nvSpPr>
          <p:cNvPr id="11" name="Text 9"/>
          <p:cNvSpPr/>
          <p:nvPr/>
        </p:nvSpPr>
        <p:spPr>
          <a:xfrm>
            <a:off x="475536" y="3154918"/>
            <a:ext cx="6694646" cy="380524"/>
          </a:xfrm>
          <a:prstGeom prst="rect">
            <a:avLst/>
          </a:prstGeom>
          <a:noFill/>
          <a:ln/>
        </p:spPr>
        <p:txBody>
          <a:bodyPr wrap="square" lIns="0" tIns="0" rIns="0" bIns="0" rtlCol="0" anchor="t"/>
          <a:lstStyle/>
          <a:p>
            <a:pPr marL="0" indent="0" algn="l">
              <a:lnSpc>
                <a:spcPts val="1450"/>
              </a:lnSpc>
              <a:buNone/>
            </a:pPr>
            <a:r>
              <a:rPr lang="en-US" sz="900" dirty="0">
                <a:solidFill>
                  <a:srgbClr val="D7E5D8"/>
                </a:solidFill>
                <a:latin typeface="Syne" pitchFamily="34" charset="0"/>
                <a:ea typeface="Syne" pitchFamily="34" charset="-122"/>
                <a:cs typeface="Syne" pitchFamily="34" charset="-120"/>
              </a:rPr>
              <a:t>Understanding insurance options is equally crucial for risk management. Our platform explains available crop insurance schemes, helping farmers protect their investments against natural disasters, pest infestations, and market fluctuations.</a:t>
            </a:r>
            <a:endParaRPr lang="en-US" sz="900" dirty="0"/>
          </a:p>
        </p:txBody>
      </p:sp>
      <p:pic>
        <p:nvPicPr>
          <p:cNvPr id="12" name="Image 0" descr="preencoded.png"/>
          <p:cNvPicPr>
            <a:picLocks noChangeAspect="1"/>
          </p:cNvPicPr>
          <p:nvPr/>
        </p:nvPicPr>
        <p:blipFill>
          <a:blip r:embed="rId3"/>
          <a:stretch>
            <a:fillRect/>
          </a:stretch>
        </p:blipFill>
        <p:spPr>
          <a:xfrm>
            <a:off x="7467838" y="2150388"/>
            <a:ext cx="6694646" cy="669464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20911" y="611862"/>
            <a:ext cx="10879098" cy="485180"/>
          </a:xfrm>
          <a:prstGeom prst="rect">
            <a:avLst/>
          </a:prstGeom>
          <a:noFill/>
          <a:ln/>
        </p:spPr>
        <p:txBody>
          <a:bodyPr wrap="none" lIns="0" tIns="0" rIns="0" bIns="0" rtlCol="0" anchor="t"/>
          <a:lstStyle/>
          <a:p>
            <a:pPr marL="0" indent="0" algn="l">
              <a:lnSpc>
                <a:spcPts val="3800"/>
              </a:lnSpc>
              <a:buNone/>
            </a:pPr>
            <a:r>
              <a:rPr lang="en-US" sz="3050" b="1" dirty="0">
                <a:solidFill>
                  <a:srgbClr val="F0F4F1"/>
                </a:solidFill>
                <a:latin typeface="Syne Extra Bold" pitchFamily="34" charset="0"/>
                <a:ea typeface="Syne Extra Bold" pitchFamily="34" charset="-122"/>
                <a:cs typeface="Syne Extra Bold" pitchFamily="34" charset="-120"/>
              </a:rPr>
              <a:t>AI-Powered Agricultural Intelligence</a:t>
            </a:r>
            <a:endParaRPr lang="en-US" sz="3050" dirty="0"/>
          </a:p>
        </p:txBody>
      </p:sp>
      <p:sp>
        <p:nvSpPr>
          <p:cNvPr id="3" name="Text 1"/>
          <p:cNvSpPr/>
          <p:nvPr/>
        </p:nvSpPr>
        <p:spPr>
          <a:xfrm>
            <a:off x="620911" y="1407438"/>
            <a:ext cx="13388578" cy="496729"/>
          </a:xfrm>
          <a:prstGeom prst="rect">
            <a:avLst/>
          </a:prstGeom>
          <a:noFill/>
          <a:ln/>
        </p:spPr>
        <p:txBody>
          <a:bodyPr wrap="square" lIns="0" tIns="0" rIns="0" bIns="0" rtlCol="0" anchor="t"/>
          <a:lstStyle/>
          <a:p>
            <a:pPr marL="0" indent="0" algn="l">
              <a:lnSpc>
                <a:spcPts val="1950"/>
              </a:lnSpc>
              <a:buNone/>
            </a:pPr>
            <a:r>
              <a:rPr lang="en-US" sz="1200" dirty="0">
                <a:solidFill>
                  <a:srgbClr val="D7E5D8"/>
                </a:solidFill>
                <a:latin typeface="Syne" pitchFamily="34" charset="0"/>
                <a:ea typeface="Syne" pitchFamily="34" charset="-122"/>
                <a:cs typeface="Syne" pitchFamily="34" charset="-120"/>
              </a:rPr>
              <a:t>FarmSetu leverages cutting-edge machine learning technology to provide farmers with predictive insights and intelligent recommendations. Our AI models analyze vast amounts of agricultural data to help you make smarter farming decisions, reduce risks, and maximize yields.</a:t>
            </a:r>
            <a:endParaRPr lang="en-US" sz="1200" dirty="0"/>
          </a:p>
        </p:txBody>
      </p:sp>
      <p:sp>
        <p:nvSpPr>
          <p:cNvPr id="4" name="Shape 2"/>
          <p:cNvSpPr/>
          <p:nvPr/>
        </p:nvSpPr>
        <p:spPr>
          <a:xfrm>
            <a:off x="620911" y="2078712"/>
            <a:ext cx="6616660" cy="2150745"/>
          </a:xfrm>
          <a:prstGeom prst="roundRect">
            <a:avLst>
              <a:gd name="adj" fmla="val 3032"/>
            </a:avLst>
          </a:prstGeom>
          <a:solidFill>
            <a:srgbClr val="152025">
              <a:alpha val="95000"/>
            </a:srgbClr>
          </a:solidFill>
          <a:ln w="22860">
            <a:solidFill>
              <a:srgbClr val="6D9121"/>
            </a:solidFill>
            <a:prstDash val="solid"/>
          </a:ln>
        </p:spPr>
      </p:sp>
      <p:sp>
        <p:nvSpPr>
          <p:cNvPr id="5" name="Shape 3"/>
          <p:cNvSpPr/>
          <p:nvPr/>
        </p:nvSpPr>
        <p:spPr>
          <a:xfrm>
            <a:off x="643771" y="2101572"/>
            <a:ext cx="6570940" cy="465653"/>
          </a:xfrm>
          <a:prstGeom prst="roundRect">
            <a:avLst>
              <a:gd name="adj" fmla="val 8112"/>
            </a:avLst>
          </a:prstGeom>
          <a:solidFill>
            <a:srgbClr val="547808"/>
          </a:solidFill>
          <a:ln/>
        </p:spPr>
      </p:sp>
      <p:sp>
        <p:nvSpPr>
          <p:cNvPr id="6" name="Text 4"/>
          <p:cNvSpPr/>
          <p:nvPr/>
        </p:nvSpPr>
        <p:spPr>
          <a:xfrm>
            <a:off x="3812858" y="2185035"/>
            <a:ext cx="232767" cy="290989"/>
          </a:xfrm>
          <a:prstGeom prst="rect">
            <a:avLst/>
          </a:prstGeom>
          <a:noFill/>
          <a:ln/>
        </p:spPr>
        <p:txBody>
          <a:bodyPr wrap="none" lIns="0" tIns="0" rIns="0" bIns="0" rtlCol="0" anchor="t"/>
          <a:lstStyle/>
          <a:p>
            <a:pPr marL="0" indent="0" algn="l">
              <a:lnSpc>
                <a:spcPts val="1800"/>
              </a:lnSpc>
              <a:buNone/>
            </a:pPr>
            <a:r>
              <a:rPr lang="en-US" sz="1800" b="1" dirty="0">
                <a:solidFill>
                  <a:srgbClr val="FFFFFF"/>
                </a:solidFill>
                <a:latin typeface="Syne Extra Bold" pitchFamily="34" charset="0"/>
                <a:ea typeface="Syne Extra Bold" pitchFamily="34" charset="-122"/>
                <a:cs typeface="Syne Extra Bold" pitchFamily="34" charset="-120"/>
              </a:rPr>
              <a:t>1</a:t>
            </a:r>
            <a:endParaRPr lang="en-US" sz="1800" dirty="0"/>
          </a:p>
        </p:txBody>
      </p:sp>
      <p:sp>
        <p:nvSpPr>
          <p:cNvPr id="7" name="Text 5"/>
          <p:cNvSpPr/>
          <p:nvPr/>
        </p:nvSpPr>
        <p:spPr>
          <a:xfrm>
            <a:off x="798909" y="2722364"/>
            <a:ext cx="4913828" cy="242530"/>
          </a:xfrm>
          <a:prstGeom prst="rect">
            <a:avLst/>
          </a:prstGeom>
          <a:noFill/>
          <a:ln/>
        </p:spPr>
        <p:txBody>
          <a:bodyPr wrap="none" lIns="0" tIns="0" rIns="0" bIns="0" rtlCol="0" anchor="t"/>
          <a:lstStyle/>
          <a:p>
            <a:pPr marL="0" indent="0" algn="l">
              <a:lnSpc>
                <a:spcPts val="1900"/>
              </a:lnSpc>
              <a:buNone/>
            </a:pPr>
            <a:r>
              <a:rPr lang="en-US" sz="1500" b="1" dirty="0">
                <a:solidFill>
                  <a:srgbClr val="D7E5D8"/>
                </a:solidFill>
                <a:latin typeface="Syne Extra Bold" pitchFamily="34" charset="0"/>
                <a:ea typeface="Syne Extra Bold" pitchFamily="34" charset="-122"/>
                <a:cs typeface="Syne Extra Bold" pitchFamily="34" charset="-120"/>
              </a:rPr>
              <a:t>Crop Recommendation System</a:t>
            </a:r>
            <a:endParaRPr lang="en-US" sz="1500" dirty="0"/>
          </a:p>
        </p:txBody>
      </p:sp>
      <p:sp>
        <p:nvSpPr>
          <p:cNvPr id="8" name="Text 6"/>
          <p:cNvSpPr/>
          <p:nvPr/>
        </p:nvSpPr>
        <p:spPr>
          <a:xfrm>
            <a:off x="798909" y="3058001"/>
            <a:ext cx="6260663" cy="993458"/>
          </a:xfrm>
          <a:prstGeom prst="rect">
            <a:avLst/>
          </a:prstGeom>
          <a:noFill/>
          <a:ln/>
        </p:spPr>
        <p:txBody>
          <a:bodyPr wrap="square" lIns="0" tIns="0" rIns="0" bIns="0" rtlCol="0" anchor="t"/>
          <a:lstStyle/>
          <a:p>
            <a:pPr marL="0" indent="0" algn="l">
              <a:lnSpc>
                <a:spcPts val="1950"/>
              </a:lnSpc>
              <a:buNone/>
            </a:pPr>
            <a:r>
              <a:rPr lang="en-US" sz="1200" dirty="0">
                <a:solidFill>
                  <a:srgbClr val="D7E5D8"/>
                </a:solidFill>
                <a:latin typeface="Syne" pitchFamily="34" charset="0"/>
                <a:ea typeface="Syne" pitchFamily="34" charset="-122"/>
                <a:cs typeface="Syne" pitchFamily="34" charset="-120"/>
              </a:rPr>
              <a:t>Input your soil parameters—including pH levels, humidity, water availability, and temperature—and receive AI-powered recommendations for the most suitable crops for your land. Our machine learning model considers multiple factors to suggest crops with the highest potential for success and profitability in your specific conditions.</a:t>
            </a:r>
            <a:endParaRPr lang="en-US" sz="1200" dirty="0"/>
          </a:p>
        </p:txBody>
      </p:sp>
      <p:sp>
        <p:nvSpPr>
          <p:cNvPr id="9" name="Shape 7"/>
          <p:cNvSpPr/>
          <p:nvPr/>
        </p:nvSpPr>
        <p:spPr>
          <a:xfrm>
            <a:off x="7392710" y="2078712"/>
            <a:ext cx="6616779" cy="2150745"/>
          </a:xfrm>
          <a:prstGeom prst="roundRect">
            <a:avLst>
              <a:gd name="adj" fmla="val 3032"/>
            </a:avLst>
          </a:prstGeom>
          <a:solidFill>
            <a:srgbClr val="152025">
              <a:alpha val="95000"/>
            </a:srgbClr>
          </a:solidFill>
          <a:ln w="22860">
            <a:solidFill>
              <a:srgbClr val="6D9121"/>
            </a:solidFill>
            <a:prstDash val="solid"/>
          </a:ln>
        </p:spPr>
      </p:sp>
      <p:sp>
        <p:nvSpPr>
          <p:cNvPr id="10" name="Shape 8"/>
          <p:cNvSpPr/>
          <p:nvPr/>
        </p:nvSpPr>
        <p:spPr>
          <a:xfrm>
            <a:off x="7415570" y="2101572"/>
            <a:ext cx="6571059" cy="465653"/>
          </a:xfrm>
          <a:prstGeom prst="roundRect">
            <a:avLst>
              <a:gd name="adj" fmla="val 8112"/>
            </a:avLst>
          </a:prstGeom>
          <a:solidFill>
            <a:srgbClr val="547808"/>
          </a:solidFill>
          <a:ln/>
        </p:spPr>
      </p:sp>
      <p:sp>
        <p:nvSpPr>
          <p:cNvPr id="11" name="Text 9"/>
          <p:cNvSpPr/>
          <p:nvPr/>
        </p:nvSpPr>
        <p:spPr>
          <a:xfrm>
            <a:off x="10584656" y="2185035"/>
            <a:ext cx="232767" cy="290989"/>
          </a:xfrm>
          <a:prstGeom prst="rect">
            <a:avLst/>
          </a:prstGeom>
          <a:noFill/>
          <a:ln/>
        </p:spPr>
        <p:txBody>
          <a:bodyPr wrap="none" lIns="0" tIns="0" rIns="0" bIns="0" rtlCol="0" anchor="t"/>
          <a:lstStyle/>
          <a:p>
            <a:pPr marL="0" indent="0" algn="l">
              <a:lnSpc>
                <a:spcPts val="1800"/>
              </a:lnSpc>
              <a:buNone/>
            </a:pPr>
            <a:r>
              <a:rPr lang="en-US" sz="1800" b="1" dirty="0">
                <a:solidFill>
                  <a:srgbClr val="FFFFFF"/>
                </a:solidFill>
                <a:latin typeface="Syne Extra Bold" pitchFamily="34" charset="0"/>
                <a:ea typeface="Syne Extra Bold" pitchFamily="34" charset="-122"/>
                <a:cs typeface="Syne Extra Bold" pitchFamily="34" charset="-120"/>
              </a:rPr>
              <a:t>2</a:t>
            </a:r>
            <a:endParaRPr lang="en-US" sz="1800" dirty="0"/>
          </a:p>
        </p:txBody>
      </p:sp>
      <p:sp>
        <p:nvSpPr>
          <p:cNvPr id="12" name="Text 10"/>
          <p:cNvSpPr/>
          <p:nvPr/>
        </p:nvSpPr>
        <p:spPr>
          <a:xfrm>
            <a:off x="7570708" y="2722364"/>
            <a:ext cx="3872865" cy="242530"/>
          </a:xfrm>
          <a:prstGeom prst="rect">
            <a:avLst/>
          </a:prstGeom>
          <a:noFill/>
          <a:ln/>
        </p:spPr>
        <p:txBody>
          <a:bodyPr wrap="none" lIns="0" tIns="0" rIns="0" bIns="0" rtlCol="0" anchor="t"/>
          <a:lstStyle/>
          <a:p>
            <a:pPr marL="0" indent="0" algn="l">
              <a:lnSpc>
                <a:spcPts val="1900"/>
              </a:lnSpc>
              <a:buNone/>
            </a:pPr>
            <a:r>
              <a:rPr lang="en-US" sz="1500" b="1" dirty="0">
                <a:solidFill>
                  <a:srgbClr val="D7E5D8"/>
                </a:solidFill>
                <a:latin typeface="Syne Extra Bold" pitchFamily="34" charset="0"/>
                <a:ea typeface="Syne Extra Bold" pitchFamily="34" charset="-122"/>
                <a:cs typeface="Syne Extra Bold" pitchFamily="34" charset="-120"/>
              </a:rPr>
              <a:t>Rainfall Prediction Model</a:t>
            </a:r>
            <a:endParaRPr lang="en-US" sz="1500" dirty="0"/>
          </a:p>
        </p:txBody>
      </p:sp>
      <p:sp>
        <p:nvSpPr>
          <p:cNvPr id="13" name="Text 11"/>
          <p:cNvSpPr/>
          <p:nvPr/>
        </p:nvSpPr>
        <p:spPr>
          <a:xfrm>
            <a:off x="7570708" y="3058001"/>
            <a:ext cx="6260783" cy="993458"/>
          </a:xfrm>
          <a:prstGeom prst="rect">
            <a:avLst/>
          </a:prstGeom>
          <a:noFill/>
          <a:ln/>
        </p:spPr>
        <p:txBody>
          <a:bodyPr wrap="square" lIns="0" tIns="0" rIns="0" bIns="0" rtlCol="0" anchor="t"/>
          <a:lstStyle/>
          <a:p>
            <a:pPr marL="0" indent="0" algn="l">
              <a:lnSpc>
                <a:spcPts val="1950"/>
              </a:lnSpc>
              <a:buNone/>
            </a:pPr>
            <a:r>
              <a:rPr lang="en-US" sz="1200" dirty="0">
                <a:solidFill>
                  <a:srgbClr val="D7E5D8"/>
                </a:solidFill>
                <a:latin typeface="Syne" pitchFamily="34" charset="0"/>
                <a:ea typeface="Syne" pitchFamily="34" charset="-122"/>
                <a:cs typeface="Syne" pitchFamily="34" charset="-120"/>
              </a:rPr>
              <a:t>Advanced forecasting predicts rainfall across India within 24, 48, and 72-hour windows. The system automatically alerts farmers to open or close irrigation valves based on predicted rainfall, optimizing water usage and preventing over-irrigation. Smart water management saves resources and improves crop health.</a:t>
            </a:r>
            <a:endParaRPr lang="en-US" sz="1200" dirty="0"/>
          </a:p>
        </p:txBody>
      </p:sp>
      <p:sp>
        <p:nvSpPr>
          <p:cNvPr id="14" name="Shape 12"/>
          <p:cNvSpPr/>
          <p:nvPr/>
        </p:nvSpPr>
        <p:spPr>
          <a:xfrm>
            <a:off x="620911" y="4384596"/>
            <a:ext cx="6616660" cy="2150745"/>
          </a:xfrm>
          <a:prstGeom prst="roundRect">
            <a:avLst>
              <a:gd name="adj" fmla="val 3032"/>
            </a:avLst>
          </a:prstGeom>
          <a:solidFill>
            <a:srgbClr val="152025">
              <a:alpha val="95000"/>
            </a:srgbClr>
          </a:solidFill>
          <a:ln w="22860">
            <a:solidFill>
              <a:srgbClr val="6D9121"/>
            </a:solidFill>
            <a:prstDash val="solid"/>
          </a:ln>
        </p:spPr>
      </p:sp>
      <p:sp>
        <p:nvSpPr>
          <p:cNvPr id="15" name="Shape 13"/>
          <p:cNvSpPr/>
          <p:nvPr/>
        </p:nvSpPr>
        <p:spPr>
          <a:xfrm>
            <a:off x="643771" y="4407456"/>
            <a:ext cx="6570940" cy="465653"/>
          </a:xfrm>
          <a:prstGeom prst="roundRect">
            <a:avLst>
              <a:gd name="adj" fmla="val 8112"/>
            </a:avLst>
          </a:prstGeom>
          <a:solidFill>
            <a:srgbClr val="547808"/>
          </a:solidFill>
          <a:ln/>
        </p:spPr>
      </p:sp>
      <p:sp>
        <p:nvSpPr>
          <p:cNvPr id="16" name="Text 14"/>
          <p:cNvSpPr/>
          <p:nvPr/>
        </p:nvSpPr>
        <p:spPr>
          <a:xfrm>
            <a:off x="3812858" y="4490918"/>
            <a:ext cx="232767" cy="290989"/>
          </a:xfrm>
          <a:prstGeom prst="rect">
            <a:avLst/>
          </a:prstGeom>
          <a:noFill/>
          <a:ln/>
        </p:spPr>
        <p:txBody>
          <a:bodyPr wrap="none" lIns="0" tIns="0" rIns="0" bIns="0" rtlCol="0" anchor="t"/>
          <a:lstStyle/>
          <a:p>
            <a:pPr marL="0" indent="0" algn="l">
              <a:lnSpc>
                <a:spcPts val="1800"/>
              </a:lnSpc>
              <a:buNone/>
            </a:pPr>
            <a:r>
              <a:rPr lang="en-US" sz="1800" b="1" dirty="0">
                <a:solidFill>
                  <a:srgbClr val="FFFFFF"/>
                </a:solidFill>
                <a:latin typeface="Syne Extra Bold" pitchFamily="34" charset="0"/>
                <a:ea typeface="Syne Extra Bold" pitchFamily="34" charset="-122"/>
                <a:cs typeface="Syne Extra Bold" pitchFamily="34" charset="-120"/>
              </a:rPr>
              <a:t>3</a:t>
            </a:r>
            <a:endParaRPr lang="en-US" sz="1800" dirty="0"/>
          </a:p>
        </p:txBody>
      </p:sp>
      <p:sp>
        <p:nvSpPr>
          <p:cNvPr id="17" name="Text 15"/>
          <p:cNvSpPr/>
          <p:nvPr/>
        </p:nvSpPr>
        <p:spPr>
          <a:xfrm>
            <a:off x="798909" y="5028248"/>
            <a:ext cx="3665220" cy="242530"/>
          </a:xfrm>
          <a:prstGeom prst="rect">
            <a:avLst/>
          </a:prstGeom>
          <a:noFill/>
          <a:ln/>
        </p:spPr>
        <p:txBody>
          <a:bodyPr wrap="none" lIns="0" tIns="0" rIns="0" bIns="0" rtlCol="0" anchor="t"/>
          <a:lstStyle/>
          <a:p>
            <a:pPr marL="0" indent="0" algn="l">
              <a:lnSpc>
                <a:spcPts val="1900"/>
              </a:lnSpc>
              <a:buNone/>
            </a:pPr>
            <a:r>
              <a:rPr lang="en-US" sz="1500" b="1" dirty="0">
                <a:solidFill>
                  <a:srgbClr val="D7E5D8"/>
                </a:solidFill>
                <a:latin typeface="Syne Extra Bold" pitchFamily="34" charset="0"/>
                <a:ea typeface="Syne Extra Bold" pitchFamily="34" charset="-122"/>
                <a:cs typeface="Syne Extra Bold" pitchFamily="34" charset="-120"/>
              </a:rPr>
              <a:t>Crop Disease Detection</a:t>
            </a:r>
            <a:endParaRPr lang="en-US" sz="1500" dirty="0"/>
          </a:p>
        </p:txBody>
      </p:sp>
      <p:sp>
        <p:nvSpPr>
          <p:cNvPr id="18" name="Text 16"/>
          <p:cNvSpPr/>
          <p:nvPr/>
        </p:nvSpPr>
        <p:spPr>
          <a:xfrm>
            <a:off x="798909" y="5363885"/>
            <a:ext cx="6260663" cy="993458"/>
          </a:xfrm>
          <a:prstGeom prst="rect">
            <a:avLst/>
          </a:prstGeom>
          <a:noFill/>
          <a:ln/>
        </p:spPr>
        <p:txBody>
          <a:bodyPr wrap="square" lIns="0" tIns="0" rIns="0" bIns="0" rtlCol="0" anchor="t"/>
          <a:lstStyle/>
          <a:p>
            <a:pPr marL="0" indent="0" algn="l">
              <a:lnSpc>
                <a:spcPts val="1950"/>
              </a:lnSpc>
              <a:buNone/>
            </a:pPr>
            <a:r>
              <a:rPr lang="en-US" sz="1200" dirty="0">
                <a:solidFill>
                  <a:srgbClr val="D7E5D8"/>
                </a:solidFill>
                <a:latin typeface="Syne" pitchFamily="34" charset="0"/>
                <a:ea typeface="Syne" pitchFamily="34" charset="-122"/>
                <a:cs typeface="Syne" pitchFamily="34" charset="-120"/>
              </a:rPr>
              <a:t>Simply photograph a crop leaf and upload it to the platform. Our image recognition AI analyzes the photo to detect diseases, identifying problems early when they're most treatable. The system not only diagnoses issues but also provides specific treatment recommendations and preventive measures to protect your entire crop.</a:t>
            </a:r>
            <a:endParaRPr lang="en-US" sz="1200" dirty="0"/>
          </a:p>
        </p:txBody>
      </p:sp>
      <p:sp>
        <p:nvSpPr>
          <p:cNvPr id="19" name="Shape 17"/>
          <p:cNvSpPr/>
          <p:nvPr/>
        </p:nvSpPr>
        <p:spPr>
          <a:xfrm>
            <a:off x="7392710" y="4384596"/>
            <a:ext cx="6616779" cy="2150745"/>
          </a:xfrm>
          <a:prstGeom prst="roundRect">
            <a:avLst>
              <a:gd name="adj" fmla="val 3032"/>
            </a:avLst>
          </a:prstGeom>
          <a:solidFill>
            <a:srgbClr val="152025">
              <a:alpha val="95000"/>
            </a:srgbClr>
          </a:solidFill>
          <a:ln w="22860">
            <a:solidFill>
              <a:srgbClr val="6D9121"/>
            </a:solidFill>
            <a:prstDash val="solid"/>
          </a:ln>
        </p:spPr>
      </p:sp>
      <p:sp>
        <p:nvSpPr>
          <p:cNvPr id="20" name="Shape 18"/>
          <p:cNvSpPr/>
          <p:nvPr/>
        </p:nvSpPr>
        <p:spPr>
          <a:xfrm>
            <a:off x="7415570" y="4407456"/>
            <a:ext cx="6571059" cy="465653"/>
          </a:xfrm>
          <a:prstGeom prst="roundRect">
            <a:avLst>
              <a:gd name="adj" fmla="val 8112"/>
            </a:avLst>
          </a:prstGeom>
          <a:solidFill>
            <a:srgbClr val="547808"/>
          </a:solidFill>
          <a:ln/>
        </p:spPr>
      </p:sp>
      <p:sp>
        <p:nvSpPr>
          <p:cNvPr id="21" name="Text 19"/>
          <p:cNvSpPr/>
          <p:nvPr/>
        </p:nvSpPr>
        <p:spPr>
          <a:xfrm>
            <a:off x="10584656" y="4490918"/>
            <a:ext cx="232767" cy="290989"/>
          </a:xfrm>
          <a:prstGeom prst="rect">
            <a:avLst/>
          </a:prstGeom>
          <a:noFill/>
          <a:ln/>
        </p:spPr>
        <p:txBody>
          <a:bodyPr wrap="none" lIns="0" tIns="0" rIns="0" bIns="0" rtlCol="0" anchor="t"/>
          <a:lstStyle/>
          <a:p>
            <a:pPr marL="0" indent="0" algn="l">
              <a:lnSpc>
                <a:spcPts val="1800"/>
              </a:lnSpc>
              <a:buNone/>
            </a:pPr>
            <a:r>
              <a:rPr lang="en-US" sz="1800" b="1" dirty="0">
                <a:solidFill>
                  <a:srgbClr val="FFFFFF"/>
                </a:solidFill>
                <a:latin typeface="Syne Extra Bold" pitchFamily="34" charset="0"/>
                <a:ea typeface="Syne Extra Bold" pitchFamily="34" charset="-122"/>
                <a:cs typeface="Syne Extra Bold" pitchFamily="34" charset="-120"/>
              </a:rPr>
              <a:t>4</a:t>
            </a:r>
            <a:endParaRPr lang="en-US" sz="1800" dirty="0"/>
          </a:p>
        </p:txBody>
      </p:sp>
      <p:sp>
        <p:nvSpPr>
          <p:cNvPr id="22" name="Text 20"/>
          <p:cNvSpPr/>
          <p:nvPr/>
        </p:nvSpPr>
        <p:spPr>
          <a:xfrm>
            <a:off x="7570708" y="5028248"/>
            <a:ext cx="3887033" cy="242530"/>
          </a:xfrm>
          <a:prstGeom prst="rect">
            <a:avLst/>
          </a:prstGeom>
          <a:noFill/>
          <a:ln/>
        </p:spPr>
        <p:txBody>
          <a:bodyPr wrap="none" lIns="0" tIns="0" rIns="0" bIns="0" rtlCol="0" anchor="t"/>
          <a:lstStyle/>
          <a:p>
            <a:pPr marL="0" indent="0" algn="l">
              <a:lnSpc>
                <a:spcPts val="1900"/>
              </a:lnSpc>
              <a:buNone/>
            </a:pPr>
            <a:r>
              <a:rPr lang="en-US" sz="1500" b="1" dirty="0">
                <a:solidFill>
                  <a:srgbClr val="D7E5D8"/>
                </a:solidFill>
                <a:latin typeface="Syne Extra Bold" pitchFamily="34" charset="0"/>
                <a:ea typeface="Syne Extra Bold" pitchFamily="34" charset="-122"/>
                <a:cs typeface="Syne Extra Bold" pitchFamily="34" charset="-120"/>
              </a:rPr>
              <a:t>Yield Prediction Analytics</a:t>
            </a:r>
            <a:endParaRPr lang="en-US" sz="1500" dirty="0"/>
          </a:p>
        </p:txBody>
      </p:sp>
      <p:sp>
        <p:nvSpPr>
          <p:cNvPr id="23" name="Text 21"/>
          <p:cNvSpPr/>
          <p:nvPr/>
        </p:nvSpPr>
        <p:spPr>
          <a:xfrm>
            <a:off x="7570708" y="5363885"/>
            <a:ext cx="6260783" cy="993458"/>
          </a:xfrm>
          <a:prstGeom prst="rect">
            <a:avLst/>
          </a:prstGeom>
          <a:noFill/>
          <a:ln/>
        </p:spPr>
        <p:txBody>
          <a:bodyPr wrap="square" lIns="0" tIns="0" rIns="0" bIns="0" rtlCol="0" anchor="t"/>
          <a:lstStyle/>
          <a:p>
            <a:pPr marL="0" indent="0" algn="l">
              <a:lnSpc>
                <a:spcPts val="1950"/>
              </a:lnSpc>
              <a:buNone/>
            </a:pPr>
            <a:r>
              <a:rPr lang="en-US" sz="1200" dirty="0">
                <a:solidFill>
                  <a:srgbClr val="D7E5D8"/>
                </a:solidFill>
                <a:latin typeface="Syne" pitchFamily="34" charset="0"/>
                <a:ea typeface="Syne" pitchFamily="34" charset="-122"/>
                <a:cs typeface="Syne" pitchFamily="34" charset="-120"/>
              </a:rPr>
              <a:t>Input details about your location (state, district, city), land area, fertilizer usage, and pesticide application. Our model processes this data to predict expected crop yield in tons, helping you plan harvest logistics, storage needs, and market strategies. Accurate yield forecasting enables better business planning and resource allocation.</a:t>
            </a:r>
            <a:endParaRPr lang="en-US" sz="1200" dirty="0"/>
          </a:p>
        </p:txBody>
      </p:sp>
      <p:sp>
        <p:nvSpPr>
          <p:cNvPr id="24" name="Shape 22"/>
          <p:cNvSpPr/>
          <p:nvPr/>
        </p:nvSpPr>
        <p:spPr>
          <a:xfrm>
            <a:off x="620911" y="6709886"/>
            <a:ext cx="13388578" cy="907733"/>
          </a:xfrm>
          <a:prstGeom prst="roundRect">
            <a:avLst>
              <a:gd name="adj" fmla="val 7183"/>
            </a:avLst>
          </a:prstGeom>
          <a:solidFill>
            <a:srgbClr val="334805"/>
          </a:solidFill>
          <a:ln/>
        </p:spPr>
      </p:sp>
      <p:pic>
        <p:nvPicPr>
          <p:cNvPr id="25" name="Image 0" descr="preencoded.png"/>
          <p:cNvPicPr>
            <a:picLocks noChangeAspect="1"/>
          </p:cNvPicPr>
          <p:nvPr/>
        </p:nvPicPr>
        <p:blipFill>
          <a:blip r:embed="rId3"/>
          <a:stretch>
            <a:fillRect/>
          </a:stretch>
        </p:blipFill>
        <p:spPr>
          <a:xfrm>
            <a:off x="776049" y="6935510"/>
            <a:ext cx="193953" cy="155138"/>
          </a:xfrm>
          <a:prstGeom prst="rect">
            <a:avLst/>
          </a:prstGeom>
        </p:spPr>
      </p:pic>
      <p:sp>
        <p:nvSpPr>
          <p:cNvPr id="26" name="Text 23"/>
          <p:cNvSpPr/>
          <p:nvPr/>
        </p:nvSpPr>
        <p:spPr>
          <a:xfrm>
            <a:off x="1125141" y="6903720"/>
            <a:ext cx="12729210" cy="496729"/>
          </a:xfrm>
          <a:prstGeom prst="rect">
            <a:avLst/>
          </a:prstGeom>
          <a:noFill/>
          <a:ln/>
        </p:spPr>
        <p:txBody>
          <a:bodyPr wrap="square" lIns="0" tIns="0" rIns="0" bIns="0" rtlCol="0" anchor="t"/>
          <a:lstStyle/>
          <a:p>
            <a:pPr marL="0" indent="0" algn="l">
              <a:lnSpc>
                <a:spcPts val="1950"/>
              </a:lnSpc>
              <a:buNone/>
            </a:pPr>
            <a:r>
              <a:rPr lang="en-US" sz="1200" b="1" dirty="0">
                <a:solidFill>
                  <a:srgbClr val="FFFFFF"/>
                </a:solidFill>
                <a:latin typeface="Syne" pitchFamily="34" charset="0"/>
                <a:ea typeface="Syne" pitchFamily="34" charset="-122"/>
                <a:cs typeface="Syne" pitchFamily="34" charset="-120"/>
              </a:rPr>
              <a:t>Machine Learning Advantage:</a:t>
            </a:r>
            <a:r>
              <a:rPr lang="en-US" sz="1200" dirty="0">
                <a:solidFill>
                  <a:srgbClr val="FFFFFF"/>
                </a:solidFill>
                <a:latin typeface="Syne" pitchFamily="34" charset="0"/>
                <a:ea typeface="Syne" pitchFamily="34" charset="-122"/>
                <a:cs typeface="Syne" pitchFamily="34" charset="-120"/>
              </a:rPr>
              <a:t> Our AI models continuously improve through use, learning from millions of data points across India's diverse agricultural regions to provide increasingly accurate recommendations and predictions.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396835" y="272891"/>
            <a:ext cx="9388316" cy="310158"/>
          </a:xfrm>
          <a:prstGeom prst="rect">
            <a:avLst/>
          </a:prstGeom>
          <a:noFill/>
          <a:ln/>
        </p:spPr>
        <p:txBody>
          <a:bodyPr wrap="none" lIns="0" tIns="0" rIns="0" bIns="0" rtlCol="0" anchor="t"/>
          <a:lstStyle/>
          <a:p>
            <a:pPr marL="0" indent="0" algn="l">
              <a:lnSpc>
                <a:spcPts val="2400"/>
              </a:lnSpc>
              <a:buNone/>
            </a:pPr>
            <a:r>
              <a:rPr lang="en-US" sz="1950" b="1" dirty="0">
                <a:solidFill>
                  <a:srgbClr val="F0F4F1"/>
                </a:solidFill>
                <a:latin typeface="Syne Extra Bold" pitchFamily="34" charset="0"/>
                <a:ea typeface="Syne Extra Bold" pitchFamily="34" charset="-122"/>
                <a:cs typeface="Syne Extra Bold" pitchFamily="34" charset="-120"/>
              </a:rPr>
              <a:t>Personalized Dashboards &amp; Management Tools</a:t>
            </a:r>
            <a:endParaRPr lang="en-US" sz="1950" dirty="0"/>
          </a:p>
        </p:txBody>
      </p:sp>
      <p:sp>
        <p:nvSpPr>
          <p:cNvPr id="3" name="Text 1"/>
          <p:cNvSpPr/>
          <p:nvPr/>
        </p:nvSpPr>
        <p:spPr>
          <a:xfrm>
            <a:off x="396835" y="831056"/>
            <a:ext cx="2269093" cy="185976"/>
          </a:xfrm>
          <a:prstGeom prst="rect">
            <a:avLst/>
          </a:prstGeom>
          <a:noFill/>
          <a:ln/>
        </p:spPr>
        <p:txBody>
          <a:bodyPr wrap="none" lIns="0" tIns="0" rIns="0" bIns="0" rtlCol="0" anchor="t"/>
          <a:lstStyle/>
          <a:p>
            <a:pPr marL="0" indent="0" algn="l">
              <a:lnSpc>
                <a:spcPts val="1450"/>
              </a:lnSpc>
              <a:buNone/>
            </a:pPr>
            <a:r>
              <a:rPr lang="en-US" sz="1150" b="1" dirty="0">
                <a:solidFill>
                  <a:srgbClr val="A9F00F"/>
                </a:solidFill>
                <a:latin typeface="Syne Extra Bold" pitchFamily="34" charset="0"/>
                <a:ea typeface="Syne Extra Bold" pitchFamily="34" charset="-122"/>
                <a:cs typeface="Syne Extra Bold" pitchFamily="34" charset="-120"/>
              </a:rPr>
              <a:t>Farmer Dashboard</a:t>
            </a:r>
            <a:endParaRPr lang="en-US" sz="1150" dirty="0"/>
          </a:p>
        </p:txBody>
      </p:sp>
      <p:pic>
        <p:nvPicPr>
          <p:cNvPr id="4" name="Image 0" descr="preencoded.png"/>
          <p:cNvPicPr>
            <a:picLocks noChangeAspect="1"/>
          </p:cNvPicPr>
          <p:nvPr/>
        </p:nvPicPr>
        <p:blipFill>
          <a:blip r:embed="rId3"/>
          <a:stretch>
            <a:fillRect/>
          </a:stretch>
        </p:blipFill>
        <p:spPr>
          <a:xfrm>
            <a:off x="396835" y="1128593"/>
            <a:ext cx="6797397" cy="6797397"/>
          </a:xfrm>
          <a:prstGeom prst="rect">
            <a:avLst/>
          </a:prstGeom>
        </p:spPr>
      </p:pic>
      <p:sp>
        <p:nvSpPr>
          <p:cNvPr id="5" name="Text 2"/>
          <p:cNvSpPr/>
          <p:nvPr/>
        </p:nvSpPr>
        <p:spPr>
          <a:xfrm>
            <a:off x="396835" y="8037552"/>
            <a:ext cx="6797397" cy="317183"/>
          </a:xfrm>
          <a:prstGeom prst="rect">
            <a:avLst/>
          </a:prstGeom>
          <a:noFill/>
          <a:ln/>
        </p:spPr>
        <p:txBody>
          <a:bodyPr wrap="square" lIns="0" tIns="0" rIns="0" bIns="0" rtlCol="0" anchor="t"/>
          <a:lstStyle/>
          <a:p>
            <a:pPr marL="0" indent="0" algn="l">
              <a:lnSpc>
                <a:spcPts val="1250"/>
              </a:lnSpc>
              <a:buNone/>
            </a:pPr>
            <a:r>
              <a:rPr lang="en-US" sz="750" dirty="0">
                <a:solidFill>
                  <a:srgbClr val="D7E5D8"/>
                </a:solidFill>
                <a:latin typeface="Syne" pitchFamily="34" charset="0"/>
                <a:ea typeface="Syne" pitchFamily="34" charset="-122"/>
                <a:cs typeface="Syne" pitchFamily="34" charset="-120"/>
              </a:rPr>
              <a:t>Every farmer on FarmSetu receives a personalized dashboard tailored to their specific needs and operations. The intuitive interface provides a comprehensive overview of all farm activities and platform features in one centralized location.</a:t>
            </a:r>
            <a:endParaRPr lang="en-US" sz="750" dirty="0"/>
          </a:p>
        </p:txBody>
      </p:sp>
      <p:sp>
        <p:nvSpPr>
          <p:cNvPr id="6" name="Text 3"/>
          <p:cNvSpPr/>
          <p:nvPr/>
        </p:nvSpPr>
        <p:spPr>
          <a:xfrm>
            <a:off x="396835" y="8444032"/>
            <a:ext cx="6797397" cy="158591"/>
          </a:xfrm>
          <a:prstGeom prst="rect">
            <a:avLst/>
          </a:prstGeom>
          <a:noFill/>
          <a:ln/>
        </p:spPr>
        <p:txBody>
          <a:bodyPr wrap="none" lIns="0" tIns="0" rIns="0" bIns="0" rtlCol="0" anchor="t"/>
          <a:lstStyle/>
          <a:p>
            <a:pPr marL="0" indent="0" algn="l">
              <a:lnSpc>
                <a:spcPts val="1250"/>
              </a:lnSpc>
              <a:buNone/>
            </a:pPr>
            <a:r>
              <a:rPr lang="en-US" sz="750" b="1" dirty="0">
                <a:solidFill>
                  <a:srgbClr val="D7E5D8"/>
                </a:solidFill>
                <a:latin typeface="Syne" pitchFamily="34" charset="0"/>
                <a:ea typeface="Syne" pitchFamily="34" charset="-122"/>
                <a:cs typeface="Syne" pitchFamily="34" charset="-120"/>
              </a:rPr>
              <a:t>Dashboard Features Include:</a:t>
            </a:r>
            <a:endParaRPr lang="en-US" sz="750" dirty="0"/>
          </a:p>
        </p:txBody>
      </p:sp>
      <p:sp>
        <p:nvSpPr>
          <p:cNvPr id="7" name="Text 4"/>
          <p:cNvSpPr/>
          <p:nvPr/>
        </p:nvSpPr>
        <p:spPr>
          <a:xfrm>
            <a:off x="396835" y="8691920"/>
            <a:ext cx="6797397"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7E5D8"/>
                </a:solidFill>
                <a:latin typeface="Syne" pitchFamily="34" charset="0"/>
                <a:ea typeface="Syne" pitchFamily="34" charset="-122"/>
                <a:cs typeface="Syne" pitchFamily="34" charset="-120"/>
              </a:rPr>
              <a:t>Add, edit, update, and delete farm data and crop information</a:t>
            </a:r>
            <a:endParaRPr lang="en-US" sz="750" dirty="0"/>
          </a:p>
        </p:txBody>
      </p:sp>
      <p:sp>
        <p:nvSpPr>
          <p:cNvPr id="8" name="Text 5"/>
          <p:cNvSpPr/>
          <p:nvPr/>
        </p:nvSpPr>
        <p:spPr>
          <a:xfrm>
            <a:off x="396835" y="8885158"/>
            <a:ext cx="6797397"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7E5D8"/>
                </a:solidFill>
                <a:latin typeface="Syne" pitchFamily="34" charset="0"/>
                <a:ea typeface="Syne" pitchFamily="34" charset="-122"/>
                <a:cs typeface="Syne" pitchFamily="34" charset="-120"/>
              </a:rPr>
              <a:t>Track multiple fields and crop cycles simultaneously</a:t>
            </a:r>
            <a:endParaRPr lang="en-US" sz="750" dirty="0"/>
          </a:p>
        </p:txBody>
      </p:sp>
      <p:sp>
        <p:nvSpPr>
          <p:cNvPr id="9" name="Text 6"/>
          <p:cNvSpPr/>
          <p:nvPr/>
        </p:nvSpPr>
        <p:spPr>
          <a:xfrm>
            <a:off x="396835" y="9078397"/>
            <a:ext cx="6797397"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7E5D8"/>
                </a:solidFill>
                <a:latin typeface="Syne" pitchFamily="34" charset="0"/>
                <a:ea typeface="Syne" pitchFamily="34" charset="-122"/>
                <a:cs typeface="Syne" pitchFamily="34" charset="-120"/>
              </a:rPr>
              <a:t>Monitor irrigation schedules and water usage</a:t>
            </a:r>
            <a:endParaRPr lang="en-US" sz="750" dirty="0"/>
          </a:p>
        </p:txBody>
      </p:sp>
      <p:sp>
        <p:nvSpPr>
          <p:cNvPr id="10" name="Text 7"/>
          <p:cNvSpPr/>
          <p:nvPr/>
        </p:nvSpPr>
        <p:spPr>
          <a:xfrm>
            <a:off x="396835" y="9271635"/>
            <a:ext cx="6797397"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7E5D8"/>
                </a:solidFill>
                <a:latin typeface="Syne" pitchFamily="34" charset="0"/>
                <a:ea typeface="Syne" pitchFamily="34" charset="-122"/>
                <a:cs typeface="Syne" pitchFamily="34" charset="-120"/>
              </a:rPr>
              <a:t>View recommended actions based on weather and market conditions</a:t>
            </a:r>
            <a:endParaRPr lang="en-US" sz="750" dirty="0"/>
          </a:p>
        </p:txBody>
      </p:sp>
      <p:sp>
        <p:nvSpPr>
          <p:cNvPr id="11" name="Text 8"/>
          <p:cNvSpPr/>
          <p:nvPr/>
        </p:nvSpPr>
        <p:spPr>
          <a:xfrm>
            <a:off x="396835" y="9464873"/>
            <a:ext cx="6797397"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7E5D8"/>
                </a:solidFill>
                <a:latin typeface="Syne" pitchFamily="34" charset="0"/>
                <a:ea typeface="Syne" pitchFamily="34" charset="-122"/>
                <a:cs typeface="Syne" pitchFamily="34" charset="-120"/>
              </a:rPr>
              <a:t>Access quick links to marketplace, experts, and resources</a:t>
            </a:r>
            <a:endParaRPr lang="en-US" sz="750" dirty="0"/>
          </a:p>
        </p:txBody>
      </p:sp>
      <p:sp>
        <p:nvSpPr>
          <p:cNvPr id="12" name="Text 9"/>
          <p:cNvSpPr/>
          <p:nvPr/>
        </p:nvSpPr>
        <p:spPr>
          <a:xfrm>
            <a:off x="396835" y="9658112"/>
            <a:ext cx="6797397"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7E5D8"/>
                </a:solidFill>
                <a:latin typeface="Syne" pitchFamily="34" charset="0"/>
                <a:ea typeface="Syne" pitchFamily="34" charset="-122"/>
                <a:cs typeface="Syne" pitchFamily="34" charset="-120"/>
              </a:rPr>
              <a:t>Review transaction history and marketplace activity</a:t>
            </a:r>
            <a:endParaRPr lang="en-US" sz="750" dirty="0"/>
          </a:p>
        </p:txBody>
      </p:sp>
      <p:sp>
        <p:nvSpPr>
          <p:cNvPr id="13" name="Text 10"/>
          <p:cNvSpPr/>
          <p:nvPr/>
        </p:nvSpPr>
        <p:spPr>
          <a:xfrm>
            <a:off x="396835" y="9851350"/>
            <a:ext cx="6797397"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7E5D8"/>
                </a:solidFill>
                <a:latin typeface="Syne" pitchFamily="34" charset="0"/>
                <a:ea typeface="Syne" pitchFamily="34" charset="-122"/>
                <a:cs typeface="Syne" pitchFamily="34" charset="-120"/>
              </a:rPr>
              <a:t>Manage profile settings and notification preferences</a:t>
            </a:r>
            <a:endParaRPr lang="en-US" sz="750" dirty="0"/>
          </a:p>
        </p:txBody>
      </p:sp>
      <p:sp>
        <p:nvSpPr>
          <p:cNvPr id="14" name="Text 11"/>
          <p:cNvSpPr/>
          <p:nvPr/>
        </p:nvSpPr>
        <p:spPr>
          <a:xfrm>
            <a:off x="396835" y="10099238"/>
            <a:ext cx="6797397" cy="317183"/>
          </a:xfrm>
          <a:prstGeom prst="rect">
            <a:avLst/>
          </a:prstGeom>
          <a:noFill/>
          <a:ln/>
        </p:spPr>
        <p:txBody>
          <a:bodyPr wrap="square" lIns="0" tIns="0" rIns="0" bIns="0" rtlCol="0" anchor="t"/>
          <a:lstStyle/>
          <a:p>
            <a:pPr marL="0" indent="0" algn="l">
              <a:lnSpc>
                <a:spcPts val="1250"/>
              </a:lnSpc>
              <a:buNone/>
            </a:pPr>
            <a:r>
              <a:rPr lang="en-US" sz="750" dirty="0">
                <a:solidFill>
                  <a:srgbClr val="D7E5D8"/>
                </a:solidFill>
                <a:latin typeface="Syne" pitchFamily="34" charset="0"/>
                <a:ea typeface="Syne" pitchFamily="34" charset="-122"/>
                <a:cs typeface="Syne" pitchFamily="34" charset="-120"/>
              </a:rPr>
              <a:t>The dashboard serves as your agricultural command center, organizing complex information into actionable insights that help you manage daily operations efficiently.</a:t>
            </a:r>
            <a:endParaRPr lang="en-US" sz="750" dirty="0"/>
          </a:p>
        </p:txBody>
      </p:sp>
      <p:sp>
        <p:nvSpPr>
          <p:cNvPr id="15" name="Text 12"/>
          <p:cNvSpPr/>
          <p:nvPr/>
        </p:nvSpPr>
        <p:spPr>
          <a:xfrm>
            <a:off x="7443788" y="831056"/>
            <a:ext cx="4863941" cy="185976"/>
          </a:xfrm>
          <a:prstGeom prst="rect">
            <a:avLst/>
          </a:prstGeom>
          <a:noFill/>
          <a:ln/>
        </p:spPr>
        <p:txBody>
          <a:bodyPr wrap="none" lIns="0" tIns="0" rIns="0" bIns="0" rtlCol="0" anchor="t"/>
          <a:lstStyle/>
          <a:p>
            <a:pPr marL="0" indent="0" algn="l">
              <a:lnSpc>
                <a:spcPts val="1450"/>
              </a:lnSpc>
              <a:buNone/>
            </a:pPr>
            <a:r>
              <a:rPr lang="en-US" sz="1150" b="1" dirty="0">
                <a:solidFill>
                  <a:srgbClr val="547808"/>
                </a:solidFill>
                <a:latin typeface="Syne Extra Bold" pitchFamily="34" charset="0"/>
                <a:ea typeface="Syne Extra Bold" pitchFamily="34" charset="-122"/>
                <a:cs typeface="Syne Extra Bold" pitchFamily="34" charset="-120"/>
              </a:rPr>
              <a:t>Admin Dashboard &amp; Water Management</a:t>
            </a:r>
            <a:endParaRPr lang="en-US" sz="1150" dirty="0"/>
          </a:p>
        </p:txBody>
      </p:sp>
      <p:pic>
        <p:nvPicPr>
          <p:cNvPr id="16" name="Image 1" descr="preencoded.png"/>
          <p:cNvPicPr>
            <a:picLocks noChangeAspect="1"/>
          </p:cNvPicPr>
          <p:nvPr/>
        </p:nvPicPr>
        <p:blipFill>
          <a:blip r:embed="rId4"/>
          <a:stretch>
            <a:fillRect/>
          </a:stretch>
        </p:blipFill>
        <p:spPr>
          <a:xfrm>
            <a:off x="7443788" y="1128593"/>
            <a:ext cx="6797397" cy="6797397"/>
          </a:xfrm>
          <a:prstGeom prst="rect">
            <a:avLst/>
          </a:prstGeom>
        </p:spPr>
      </p:pic>
      <p:sp>
        <p:nvSpPr>
          <p:cNvPr id="17" name="Text 13"/>
          <p:cNvSpPr/>
          <p:nvPr/>
        </p:nvSpPr>
        <p:spPr>
          <a:xfrm>
            <a:off x="7443788" y="8037552"/>
            <a:ext cx="6797397" cy="317183"/>
          </a:xfrm>
          <a:prstGeom prst="rect">
            <a:avLst/>
          </a:prstGeom>
          <a:noFill/>
          <a:ln/>
        </p:spPr>
        <p:txBody>
          <a:bodyPr wrap="square" lIns="0" tIns="0" rIns="0" bIns="0" rtlCol="0" anchor="t"/>
          <a:lstStyle/>
          <a:p>
            <a:pPr marL="0" indent="0" algn="l">
              <a:lnSpc>
                <a:spcPts val="1250"/>
              </a:lnSpc>
              <a:buNone/>
            </a:pPr>
            <a:r>
              <a:rPr lang="en-US" sz="750" dirty="0">
                <a:solidFill>
                  <a:srgbClr val="D7E5D8"/>
                </a:solidFill>
                <a:latin typeface="Syne" pitchFamily="34" charset="0"/>
                <a:ea typeface="Syne" pitchFamily="34" charset="-122"/>
                <a:cs typeface="Syne" pitchFamily="34" charset="-120"/>
              </a:rPr>
              <a:t>FarmSetu includes sophisticated administrative tools for managing shared agricultural resources, particularly water distribution systems. The admin dashboard enables efficient resource allocation and fair access management.</a:t>
            </a:r>
            <a:endParaRPr lang="en-US" sz="750" dirty="0"/>
          </a:p>
        </p:txBody>
      </p:sp>
      <p:sp>
        <p:nvSpPr>
          <p:cNvPr id="18" name="Text 14"/>
          <p:cNvSpPr/>
          <p:nvPr/>
        </p:nvSpPr>
        <p:spPr>
          <a:xfrm>
            <a:off x="7443788" y="8444032"/>
            <a:ext cx="6797397" cy="158591"/>
          </a:xfrm>
          <a:prstGeom prst="rect">
            <a:avLst/>
          </a:prstGeom>
          <a:noFill/>
          <a:ln/>
        </p:spPr>
        <p:txBody>
          <a:bodyPr wrap="none" lIns="0" tIns="0" rIns="0" bIns="0" rtlCol="0" anchor="t"/>
          <a:lstStyle/>
          <a:p>
            <a:pPr marL="0" indent="0" algn="l">
              <a:lnSpc>
                <a:spcPts val="1250"/>
              </a:lnSpc>
              <a:buNone/>
            </a:pPr>
            <a:r>
              <a:rPr lang="en-US" sz="750" b="1" dirty="0">
                <a:solidFill>
                  <a:srgbClr val="D7E5D8"/>
                </a:solidFill>
                <a:latin typeface="Syne" pitchFamily="34" charset="0"/>
                <a:ea typeface="Syne" pitchFamily="34" charset="-122"/>
                <a:cs typeface="Syne" pitchFamily="34" charset="-120"/>
              </a:rPr>
              <a:t>Digital Parchi/Bari System:</a:t>
            </a:r>
            <a:endParaRPr lang="en-US" sz="750" dirty="0"/>
          </a:p>
        </p:txBody>
      </p:sp>
      <p:sp>
        <p:nvSpPr>
          <p:cNvPr id="19" name="Text 15"/>
          <p:cNvSpPr/>
          <p:nvPr/>
        </p:nvSpPr>
        <p:spPr>
          <a:xfrm>
            <a:off x="7443788" y="8691920"/>
            <a:ext cx="6797397"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7E5D8"/>
                </a:solidFill>
                <a:latin typeface="Syne" pitchFamily="34" charset="0"/>
                <a:ea typeface="Syne" pitchFamily="34" charset="-122"/>
                <a:cs typeface="Syne" pitchFamily="34" charset="-120"/>
              </a:rPr>
              <a:t>Farmers submit water requests through the platform</a:t>
            </a:r>
            <a:endParaRPr lang="en-US" sz="750" dirty="0"/>
          </a:p>
        </p:txBody>
      </p:sp>
      <p:sp>
        <p:nvSpPr>
          <p:cNvPr id="20" name="Text 16"/>
          <p:cNvSpPr/>
          <p:nvPr/>
        </p:nvSpPr>
        <p:spPr>
          <a:xfrm>
            <a:off x="7443788" y="8885158"/>
            <a:ext cx="6797397"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7E5D8"/>
                </a:solidFill>
                <a:latin typeface="Syne" pitchFamily="34" charset="0"/>
                <a:ea typeface="Syne" pitchFamily="34" charset="-122"/>
                <a:cs typeface="Syne" pitchFamily="34" charset="-120"/>
              </a:rPr>
              <a:t>Administrators review and approve requests based on availability and need</a:t>
            </a:r>
            <a:endParaRPr lang="en-US" sz="750" dirty="0"/>
          </a:p>
        </p:txBody>
      </p:sp>
      <p:sp>
        <p:nvSpPr>
          <p:cNvPr id="21" name="Text 17"/>
          <p:cNvSpPr/>
          <p:nvPr/>
        </p:nvSpPr>
        <p:spPr>
          <a:xfrm>
            <a:off x="7443788" y="9078397"/>
            <a:ext cx="6797397"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7E5D8"/>
                </a:solidFill>
                <a:latin typeface="Syne" pitchFamily="34" charset="0"/>
                <a:ea typeface="Syne" pitchFamily="34" charset="-122"/>
                <a:cs typeface="Syne" pitchFamily="34" charset="-120"/>
              </a:rPr>
              <a:t>Automated turn assignment ensures fair distribution</a:t>
            </a:r>
            <a:endParaRPr lang="en-US" sz="750" dirty="0"/>
          </a:p>
        </p:txBody>
      </p:sp>
      <p:sp>
        <p:nvSpPr>
          <p:cNvPr id="22" name="Text 18"/>
          <p:cNvSpPr/>
          <p:nvPr/>
        </p:nvSpPr>
        <p:spPr>
          <a:xfrm>
            <a:off x="7443788" y="9271635"/>
            <a:ext cx="6797397"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7E5D8"/>
                </a:solidFill>
                <a:latin typeface="Syne" pitchFamily="34" charset="0"/>
                <a:ea typeface="Syne" pitchFamily="34" charset="-122"/>
                <a:cs typeface="Syne" pitchFamily="34" charset="-120"/>
              </a:rPr>
              <a:t>Real-time notifications inform farmers of their scheduled water access</a:t>
            </a:r>
            <a:endParaRPr lang="en-US" sz="750" dirty="0"/>
          </a:p>
        </p:txBody>
      </p:sp>
      <p:sp>
        <p:nvSpPr>
          <p:cNvPr id="23" name="Text 19"/>
          <p:cNvSpPr/>
          <p:nvPr/>
        </p:nvSpPr>
        <p:spPr>
          <a:xfrm>
            <a:off x="7443788" y="9464873"/>
            <a:ext cx="6797397"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7E5D8"/>
                </a:solidFill>
                <a:latin typeface="Syne" pitchFamily="34" charset="0"/>
                <a:ea typeface="Syne" pitchFamily="34" charset="-122"/>
                <a:cs typeface="Syne" pitchFamily="34" charset="-120"/>
              </a:rPr>
              <a:t>Admins can add and manage multiple water sources</a:t>
            </a:r>
            <a:endParaRPr lang="en-US" sz="750" dirty="0"/>
          </a:p>
        </p:txBody>
      </p:sp>
      <p:sp>
        <p:nvSpPr>
          <p:cNvPr id="24" name="Text 20"/>
          <p:cNvSpPr/>
          <p:nvPr/>
        </p:nvSpPr>
        <p:spPr>
          <a:xfrm>
            <a:off x="7443788" y="9658112"/>
            <a:ext cx="6797397" cy="158591"/>
          </a:xfrm>
          <a:prstGeom prst="rect">
            <a:avLst/>
          </a:prstGeom>
          <a:noFill/>
          <a:ln/>
        </p:spPr>
        <p:txBody>
          <a:bodyPr wrap="none" lIns="0" tIns="0" rIns="0" bIns="0" rtlCol="0" anchor="t"/>
          <a:lstStyle/>
          <a:p>
            <a:pPr marL="342900" indent="-342900" algn="l">
              <a:lnSpc>
                <a:spcPts val="1250"/>
              </a:lnSpc>
              <a:buSzPct val="100000"/>
              <a:buChar char="•"/>
            </a:pPr>
            <a:r>
              <a:rPr lang="en-US" sz="750" dirty="0">
                <a:solidFill>
                  <a:srgbClr val="D7E5D8"/>
                </a:solidFill>
                <a:latin typeface="Syne" pitchFamily="34" charset="0"/>
                <a:ea typeface="Syne" pitchFamily="34" charset="-122"/>
                <a:cs typeface="Syne" pitchFamily="34" charset="-120"/>
              </a:rPr>
              <a:t>Usage tracking and reporting for accountability</a:t>
            </a:r>
            <a:endParaRPr lang="en-US" sz="750" dirty="0"/>
          </a:p>
        </p:txBody>
      </p:sp>
      <p:sp>
        <p:nvSpPr>
          <p:cNvPr id="25" name="Text 21"/>
          <p:cNvSpPr/>
          <p:nvPr/>
        </p:nvSpPr>
        <p:spPr>
          <a:xfrm>
            <a:off x="7443788" y="9906000"/>
            <a:ext cx="6797397" cy="317183"/>
          </a:xfrm>
          <a:prstGeom prst="rect">
            <a:avLst/>
          </a:prstGeom>
          <a:noFill/>
          <a:ln/>
        </p:spPr>
        <p:txBody>
          <a:bodyPr wrap="square" lIns="0" tIns="0" rIns="0" bIns="0" rtlCol="0" anchor="t"/>
          <a:lstStyle/>
          <a:p>
            <a:pPr marL="0" indent="0" algn="l">
              <a:lnSpc>
                <a:spcPts val="1250"/>
              </a:lnSpc>
              <a:buNone/>
            </a:pPr>
            <a:r>
              <a:rPr lang="en-US" sz="750" dirty="0">
                <a:solidFill>
                  <a:srgbClr val="D7E5D8"/>
                </a:solidFill>
                <a:latin typeface="Syne" pitchFamily="34" charset="0"/>
                <a:ea typeface="Syne" pitchFamily="34" charset="-122"/>
                <a:cs typeface="Syne" pitchFamily="34" charset="-120"/>
              </a:rPr>
              <a:t>This digitized system replaces traditional paper-based methods, reducing conflicts, improving transparency, and ensuring equitable resource distribution across farming communities. The platform maintains complete audit trails for all water allocation decisions.</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396835" y="272891"/>
            <a:ext cx="8666440" cy="310158"/>
          </a:xfrm>
          <a:prstGeom prst="rect">
            <a:avLst/>
          </a:prstGeom>
          <a:noFill/>
          <a:ln/>
        </p:spPr>
        <p:txBody>
          <a:bodyPr wrap="none" lIns="0" tIns="0" rIns="0" bIns="0" rtlCol="0" anchor="t"/>
          <a:lstStyle/>
          <a:p>
            <a:pPr marL="0" indent="0" algn="l">
              <a:lnSpc>
                <a:spcPts val="2400"/>
              </a:lnSpc>
              <a:buNone/>
            </a:pPr>
            <a:r>
              <a:rPr lang="en-US" sz="1950" b="1" dirty="0">
                <a:solidFill>
                  <a:srgbClr val="F0F4F1"/>
                </a:solidFill>
                <a:latin typeface="Syne Extra Bold" pitchFamily="34" charset="0"/>
                <a:ea typeface="Syne Extra Bold" pitchFamily="34" charset="-122"/>
                <a:cs typeface="Syne Extra Bold" pitchFamily="34" charset="-120"/>
              </a:rPr>
              <a:t>Built for India's Farmers, in India's Languages</a:t>
            </a:r>
            <a:endParaRPr lang="en-US" sz="1950" dirty="0"/>
          </a:p>
        </p:txBody>
      </p:sp>
      <p:sp>
        <p:nvSpPr>
          <p:cNvPr id="3" name="Text 1"/>
          <p:cNvSpPr/>
          <p:nvPr/>
        </p:nvSpPr>
        <p:spPr>
          <a:xfrm>
            <a:off x="396835" y="830937"/>
            <a:ext cx="4529614" cy="327422"/>
          </a:xfrm>
          <a:prstGeom prst="rect">
            <a:avLst/>
          </a:prstGeom>
          <a:noFill/>
          <a:ln/>
        </p:spPr>
        <p:txBody>
          <a:bodyPr wrap="none" lIns="0" tIns="0" rIns="0" bIns="0" rtlCol="0" anchor="t"/>
          <a:lstStyle/>
          <a:p>
            <a:pPr marL="0" indent="0" algn="ctr">
              <a:lnSpc>
                <a:spcPts val="2550"/>
              </a:lnSpc>
              <a:buNone/>
            </a:pPr>
            <a:r>
              <a:rPr lang="en-US" sz="2550" b="1" dirty="0">
                <a:solidFill>
                  <a:srgbClr val="D7E5D8"/>
                </a:solidFill>
                <a:latin typeface="Syne Extra Bold" pitchFamily="34" charset="0"/>
                <a:ea typeface="Syne Extra Bold" pitchFamily="34" charset="-122"/>
                <a:cs typeface="Syne Extra Bold" pitchFamily="34" charset="-120"/>
              </a:rPr>
              <a:t>16+</a:t>
            </a:r>
            <a:endParaRPr lang="en-US" sz="2550" dirty="0"/>
          </a:p>
        </p:txBody>
      </p:sp>
      <p:sp>
        <p:nvSpPr>
          <p:cNvPr id="4" name="Text 2"/>
          <p:cNvSpPr/>
          <p:nvPr/>
        </p:nvSpPr>
        <p:spPr>
          <a:xfrm>
            <a:off x="1757720" y="1282303"/>
            <a:ext cx="1807726" cy="155019"/>
          </a:xfrm>
          <a:prstGeom prst="rect">
            <a:avLst/>
          </a:prstGeom>
          <a:noFill/>
          <a:ln/>
        </p:spPr>
        <p:txBody>
          <a:bodyPr wrap="none" lIns="0" tIns="0" rIns="0" bIns="0" rtlCol="0" anchor="t"/>
          <a:lstStyle/>
          <a:p>
            <a:pPr marL="0" indent="0" algn="ctr">
              <a:lnSpc>
                <a:spcPts val="1200"/>
              </a:lnSpc>
              <a:buNone/>
            </a:pPr>
            <a:r>
              <a:rPr lang="en-US" sz="950" b="1" dirty="0">
                <a:solidFill>
                  <a:srgbClr val="D7E5D8"/>
                </a:solidFill>
                <a:latin typeface="Syne Extra Bold" pitchFamily="34" charset="0"/>
                <a:ea typeface="Syne Extra Bold" pitchFamily="34" charset="-122"/>
                <a:cs typeface="Syne Extra Bold" pitchFamily="34" charset="-120"/>
              </a:rPr>
              <a:t>Platform Features</a:t>
            </a:r>
            <a:endParaRPr lang="en-US" sz="950" dirty="0"/>
          </a:p>
        </p:txBody>
      </p:sp>
      <p:sp>
        <p:nvSpPr>
          <p:cNvPr id="5" name="Text 3"/>
          <p:cNvSpPr/>
          <p:nvPr/>
        </p:nvSpPr>
        <p:spPr>
          <a:xfrm>
            <a:off x="396835" y="1496854"/>
            <a:ext cx="4529614" cy="158591"/>
          </a:xfrm>
          <a:prstGeom prst="rect">
            <a:avLst/>
          </a:prstGeom>
          <a:noFill/>
          <a:ln/>
        </p:spPr>
        <p:txBody>
          <a:bodyPr wrap="none" lIns="0" tIns="0" rIns="0" bIns="0" rtlCol="0" anchor="t"/>
          <a:lstStyle/>
          <a:p>
            <a:pPr marL="0" indent="0" algn="ctr">
              <a:lnSpc>
                <a:spcPts val="1250"/>
              </a:lnSpc>
              <a:buNone/>
            </a:pPr>
            <a:r>
              <a:rPr lang="en-US" sz="750" dirty="0">
                <a:solidFill>
                  <a:srgbClr val="D7E5D8"/>
                </a:solidFill>
                <a:latin typeface="Syne" pitchFamily="34" charset="0"/>
                <a:ea typeface="Syne" pitchFamily="34" charset="-122"/>
                <a:cs typeface="Syne" pitchFamily="34" charset="-120"/>
              </a:rPr>
              <a:t>Comprehensive tools covering every aspect of modern farming operations</a:t>
            </a:r>
            <a:endParaRPr lang="en-US" sz="750" dirty="0"/>
          </a:p>
        </p:txBody>
      </p:sp>
      <p:sp>
        <p:nvSpPr>
          <p:cNvPr id="6" name="Text 4"/>
          <p:cNvSpPr/>
          <p:nvPr/>
        </p:nvSpPr>
        <p:spPr>
          <a:xfrm>
            <a:off x="5050393" y="830937"/>
            <a:ext cx="4529614" cy="327422"/>
          </a:xfrm>
          <a:prstGeom prst="rect">
            <a:avLst/>
          </a:prstGeom>
          <a:noFill/>
          <a:ln/>
        </p:spPr>
        <p:txBody>
          <a:bodyPr wrap="none" lIns="0" tIns="0" rIns="0" bIns="0" rtlCol="0" anchor="t"/>
          <a:lstStyle/>
          <a:p>
            <a:pPr marL="0" indent="0" algn="ctr">
              <a:lnSpc>
                <a:spcPts val="2550"/>
              </a:lnSpc>
              <a:buNone/>
            </a:pPr>
            <a:r>
              <a:rPr lang="en-US" sz="2550" b="1" dirty="0">
                <a:solidFill>
                  <a:srgbClr val="D7E5D8"/>
                </a:solidFill>
                <a:latin typeface="Syne Extra Bold" pitchFamily="34" charset="0"/>
                <a:ea typeface="Syne Extra Bold" pitchFamily="34" charset="-122"/>
                <a:cs typeface="Syne Extra Bold" pitchFamily="34" charset="-120"/>
              </a:rPr>
              <a:t>20+</a:t>
            </a:r>
            <a:endParaRPr lang="en-US" sz="2550" dirty="0"/>
          </a:p>
        </p:txBody>
      </p:sp>
      <p:sp>
        <p:nvSpPr>
          <p:cNvPr id="7" name="Text 5"/>
          <p:cNvSpPr/>
          <p:nvPr/>
        </p:nvSpPr>
        <p:spPr>
          <a:xfrm>
            <a:off x="6445091" y="1282303"/>
            <a:ext cx="1740218" cy="155019"/>
          </a:xfrm>
          <a:prstGeom prst="rect">
            <a:avLst/>
          </a:prstGeom>
          <a:noFill/>
          <a:ln/>
        </p:spPr>
        <p:txBody>
          <a:bodyPr wrap="none" lIns="0" tIns="0" rIns="0" bIns="0" rtlCol="0" anchor="t"/>
          <a:lstStyle/>
          <a:p>
            <a:pPr marL="0" indent="0" algn="ctr">
              <a:lnSpc>
                <a:spcPts val="1200"/>
              </a:lnSpc>
              <a:buNone/>
            </a:pPr>
            <a:r>
              <a:rPr lang="en-US" sz="950" b="1" dirty="0">
                <a:solidFill>
                  <a:srgbClr val="D7E5D8"/>
                </a:solidFill>
                <a:latin typeface="Syne Extra Bold" pitchFamily="34" charset="0"/>
                <a:ea typeface="Syne Extra Bold" pitchFamily="34" charset="-122"/>
                <a:cs typeface="Syne Extra Bold" pitchFamily="34" charset="-120"/>
              </a:rPr>
              <a:t>Indian Languages</a:t>
            </a:r>
            <a:endParaRPr lang="en-US" sz="950" dirty="0"/>
          </a:p>
        </p:txBody>
      </p:sp>
      <p:sp>
        <p:nvSpPr>
          <p:cNvPr id="8" name="Text 6"/>
          <p:cNvSpPr/>
          <p:nvPr/>
        </p:nvSpPr>
        <p:spPr>
          <a:xfrm>
            <a:off x="5050393" y="1496854"/>
            <a:ext cx="4529614" cy="158591"/>
          </a:xfrm>
          <a:prstGeom prst="rect">
            <a:avLst/>
          </a:prstGeom>
          <a:noFill/>
          <a:ln/>
        </p:spPr>
        <p:txBody>
          <a:bodyPr wrap="none" lIns="0" tIns="0" rIns="0" bIns="0" rtlCol="0" anchor="t"/>
          <a:lstStyle/>
          <a:p>
            <a:pPr marL="0" indent="0" algn="ctr">
              <a:lnSpc>
                <a:spcPts val="1250"/>
              </a:lnSpc>
              <a:buNone/>
            </a:pPr>
            <a:r>
              <a:rPr lang="en-US" sz="750" dirty="0">
                <a:solidFill>
                  <a:srgbClr val="D7E5D8"/>
                </a:solidFill>
                <a:latin typeface="Syne" pitchFamily="34" charset="0"/>
                <a:ea typeface="Syne" pitchFamily="34" charset="-122"/>
                <a:cs typeface="Syne" pitchFamily="34" charset="-120"/>
              </a:rPr>
              <a:t>Multi-language support ensuring accessibility across all regions</a:t>
            </a:r>
            <a:endParaRPr lang="en-US" sz="750" dirty="0"/>
          </a:p>
        </p:txBody>
      </p:sp>
      <p:sp>
        <p:nvSpPr>
          <p:cNvPr id="9" name="Text 7"/>
          <p:cNvSpPr/>
          <p:nvPr/>
        </p:nvSpPr>
        <p:spPr>
          <a:xfrm>
            <a:off x="9703951" y="830937"/>
            <a:ext cx="4529614" cy="327422"/>
          </a:xfrm>
          <a:prstGeom prst="rect">
            <a:avLst/>
          </a:prstGeom>
          <a:noFill/>
          <a:ln/>
        </p:spPr>
        <p:txBody>
          <a:bodyPr wrap="none" lIns="0" tIns="0" rIns="0" bIns="0" rtlCol="0" anchor="t"/>
          <a:lstStyle/>
          <a:p>
            <a:pPr marL="0" indent="0" algn="ctr">
              <a:lnSpc>
                <a:spcPts val="2550"/>
              </a:lnSpc>
              <a:buNone/>
            </a:pPr>
            <a:r>
              <a:rPr lang="en-US" sz="2550" b="1" dirty="0">
                <a:solidFill>
                  <a:srgbClr val="D7E5D8"/>
                </a:solidFill>
                <a:latin typeface="Syne Extra Bold" pitchFamily="34" charset="0"/>
                <a:ea typeface="Syne Extra Bold" pitchFamily="34" charset="-122"/>
                <a:cs typeface="Syne Extra Bold" pitchFamily="34" charset="-120"/>
              </a:rPr>
              <a:t>24/7</a:t>
            </a:r>
            <a:endParaRPr lang="en-US" sz="2550" dirty="0"/>
          </a:p>
        </p:txBody>
      </p:sp>
      <p:sp>
        <p:nvSpPr>
          <p:cNvPr id="10" name="Text 8"/>
          <p:cNvSpPr/>
          <p:nvPr/>
        </p:nvSpPr>
        <p:spPr>
          <a:xfrm>
            <a:off x="11256407" y="1282303"/>
            <a:ext cx="1424702" cy="155019"/>
          </a:xfrm>
          <a:prstGeom prst="rect">
            <a:avLst/>
          </a:prstGeom>
          <a:noFill/>
          <a:ln/>
        </p:spPr>
        <p:txBody>
          <a:bodyPr wrap="none" lIns="0" tIns="0" rIns="0" bIns="0" rtlCol="0" anchor="t"/>
          <a:lstStyle/>
          <a:p>
            <a:pPr marL="0" indent="0" algn="ctr">
              <a:lnSpc>
                <a:spcPts val="1200"/>
              </a:lnSpc>
              <a:buNone/>
            </a:pPr>
            <a:r>
              <a:rPr lang="en-US" sz="950" b="1" dirty="0">
                <a:solidFill>
                  <a:srgbClr val="D7E5D8"/>
                </a:solidFill>
                <a:latin typeface="Syne Extra Bold" pitchFamily="34" charset="0"/>
                <a:ea typeface="Syne Extra Bold" pitchFamily="34" charset="-122"/>
                <a:cs typeface="Syne Extra Bold" pitchFamily="34" charset="-120"/>
              </a:rPr>
              <a:t>Expert Access</a:t>
            </a:r>
            <a:endParaRPr lang="en-US" sz="950" dirty="0"/>
          </a:p>
        </p:txBody>
      </p:sp>
      <p:sp>
        <p:nvSpPr>
          <p:cNvPr id="11" name="Text 9"/>
          <p:cNvSpPr/>
          <p:nvPr/>
        </p:nvSpPr>
        <p:spPr>
          <a:xfrm>
            <a:off x="9703951" y="1496854"/>
            <a:ext cx="4529614" cy="158591"/>
          </a:xfrm>
          <a:prstGeom prst="rect">
            <a:avLst/>
          </a:prstGeom>
          <a:noFill/>
          <a:ln/>
        </p:spPr>
        <p:txBody>
          <a:bodyPr wrap="none" lIns="0" tIns="0" rIns="0" bIns="0" rtlCol="0" anchor="t"/>
          <a:lstStyle/>
          <a:p>
            <a:pPr marL="0" indent="0" algn="ctr">
              <a:lnSpc>
                <a:spcPts val="1250"/>
              </a:lnSpc>
              <a:buNone/>
            </a:pPr>
            <a:r>
              <a:rPr lang="en-US" sz="750" dirty="0">
                <a:solidFill>
                  <a:srgbClr val="D7E5D8"/>
                </a:solidFill>
                <a:latin typeface="Syne" pitchFamily="34" charset="0"/>
                <a:ea typeface="Syne" pitchFamily="34" charset="-122"/>
                <a:cs typeface="Syne" pitchFamily="34" charset="-120"/>
              </a:rPr>
              <a:t>Round-the-clock AI support with instant answers to farming questions</a:t>
            </a:r>
            <a:endParaRPr lang="en-US" sz="750" dirty="0"/>
          </a:p>
        </p:txBody>
      </p:sp>
      <p:pic>
        <p:nvPicPr>
          <p:cNvPr id="12" name="Image 0" descr="preencoded.png"/>
          <p:cNvPicPr>
            <a:picLocks noChangeAspect="1"/>
          </p:cNvPicPr>
          <p:nvPr/>
        </p:nvPicPr>
        <p:blipFill>
          <a:blip r:embed="rId3"/>
          <a:stretch>
            <a:fillRect/>
          </a:stretch>
        </p:blipFill>
        <p:spPr>
          <a:xfrm>
            <a:off x="396835" y="1878568"/>
            <a:ext cx="6797397" cy="6797397"/>
          </a:xfrm>
          <a:prstGeom prst="rect">
            <a:avLst/>
          </a:prstGeom>
        </p:spPr>
      </p:pic>
      <p:sp>
        <p:nvSpPr>
          <p:cNvPr id="13" name="Text 10"/>
          <p:cNvSpPr/>
          <p:nvPr/>
        </p:nvSpPr>
        <p:spPr>
          <a:xfrm>
            <a:off x="7443788" y="1866186"/>
            <a:ext cx="5596652" cy="185976"/>
          </a:xfrm>
          <a:prstGeom prst="rect">
            <a:avLst/>
          </a:prstGeom>
          <a:noFill/>
          <a:ln/>
        </p:spPr>
        <p:txBody>
          <a:bodyPr wrap="none" lIns="0" tIns="0" rIns="0" bIns="0" rtlCol="0" anchor="t"/>
          <a:lstStyle/>
          <a:p>
            <a:pPr marL="0" indent="0" algn="l">
              <a:lnSpc>
                <a:spcPts val="1450"/>
              </a:lnSpc>
              <a:buNone/>
            </a:pPr>
            <a:r>
              <a:rPr lang="en-US" sz="1150" b="1" dirty="0">
                <a:solidFill>
                  <a:srgbClr val="F0F4F1"/>
                </a:solidFill>
                <a:latin typeface="Syne Extra Bold" pitchFamily="34" charset="0"/>
                <a:ea typeface="Syne Extra Bold" pitchFamily="34" charset="-122"/>
                <a:cs typeface="Syne Extra Bold" pitchFamily="34" charset="-120"/>
              </a:rPr>
              <a:t>Language is not a barrier to agricultural progress</a:t>
            </a:r>
            <a:endParaRPr lang="en-US" sz="1150" dirty="0"/>
          </a:p>
        </p:txBody>
      </p:sp>
      <p:sp>
        <p:nvSpPr>
          <p:cNvPr id="14" name="Text 11"/>
          <p:cNvSpPr/>
          <p:nvPr/>
        </p:nvSpPr>
        <p:spPr>
          <a:xfrm>
            <a:off x="7443788" y="2151340"/>
            <a:ext cx="6797397" cy="317183"/>
          </a:xfrm>
          <a:prstGeom prst="rect">
            <a:avLst/>
          </a:prstGeom>
          <a:noFill/>
          <a:ln/>
        </p:spPr>
        <p:txBody>
          <a:bodyPr wrap="square" lIns="0" tIns="0" rIns="0" bIns="0" rtlCol="0" anchor="t"/>
          <a:lstStyle/>
          <a:p>
            <a:pPr marL="0" indent="0" algn="l">
              <a:lnSpc>
                <a:spcPts val="1250"/>
              </a:lnSpc>
              <a:buNone/>
            </a:pPr>
            <a:r>
              <a:rPr lang="en-US" sz="750" dirty="0">
                <a:solidFill>
                  <a:srgbClr val="D7E5D8"/>
                </a:solidFill>
                <a:latin typeface="Syne" pitchFamily="34" charset="0"/>
                <a:ea typeface="Syne" pitchFamily="34" charset="-122"/>
                <a:cs typeface="Syne" pitchFamily="34" charset="-120"/>
              </a:rPr>
              <a:t>FarmSetu proudly supports </a:t>
            </a:r>
            <a:r>
              <a:rPr lang="en-US" sz="750" b="1" dirty="0">
                <a:solidFill>
                  <a:srgbClr val="A9F00F"/>
                </a:solidFill>
                <a:latin typeface="Syne" pitchFamily="34" charset="0"/>
                <a:ea typeface="Syne" pitchFamily="34" charset="-122"/>
                <a:cs typeface="Syne" pitchFamily="34" charset="-120"/>
              </a:rPr>
              <a:t>multiple native Indian languages</a:t>
            </a:r>
            <a:r>
              <a:rPr lang="en-US" sz="750" dirty="0">
                <a:solidFill>
                  <a:srgbClr val="D7E5D8"/>
                </a:solidFill>
                <a:latin typeface="Syne" pitchFamily="34" charset="0"/>
                <a:ea typeface="Syne" pitchFamily="34" charset="-122"/>
                <a:cs typeface="Syne" pitchFamily="34" charset="-120"/>
              </a:rPr>
              <a:t>, ensuring that every farmer can access our platform in their preferred language. From Hindi and Bengali to Tamil, Telugu, Marathi, Gujarati, and many more, we've built true linguistic inclusivity into every aspect of the platform.</a:t>
            </a:r>
            <a:endParaRPr lang="en-US" sz="750" dirty="0"/>
          </a:p>
        </p:txBody>
      </p:sp>
      <p:sp>
        <p:nvSpPr>
          <p:cNvPr id="15" name="Text 12"/>
          <p:cNvSpPr/>
          <p:nvPr/>
        </p:nvSpPr>
        <p:spPr>
          <a:xfrm>
            <a:off x="7443788" y="2557820"/>
            <a:ext cx="6797397" cy="475774"/>
          </a:xfrm>
          <a:prstGeom prst="rect">
            <a:avLst/>
          </a:prstGeom>
          <a:noFill/>
          <a:ln/>
        </p:spPr>
        <p:txBody>
          <a:bodyPr wrap="square" lIns="0" tIns="0" rIns="0" bIns="0" rtlCol="0" anchor="t"/>
          <a:lstStyle/>
          <a:p>
            <a:pPr marL="0" indent="0" algn="l">
              <a:lnSpc>
                <a:spcPts val="1250"/>
              </a:lnSpc>
              <a:buNone/>
            </a:pPr>
            <a:r>
              <a:rPr lang="en-US" sz="750" dirty="0">
                <a:solidFill>
                  <a:srgbClr val="D7E5D8"/>
                </a:solidFill>
                <a:latin typeface="Syne" pitchFamily="34" charset="0"/>
                <a:ea typeface="Syne" pitchFamily="34" charset="-122"/>
                <a:cs typeface="Syne" pitchFamily="34" charset="-120"/>
              </a:rPr>
              <a:t>This commitment to multilingual support means that farmers across India—regardless of their educational background or primary language—can benefit from advanced agricultural technology. Instructions, recommendations, market data, and community discussions are all available in regional languages, making FarmSetu truly accessible to the millions of farmers who drive India's agricultural economy.</a:t>
            </a:r>
            <a:endParaRPr lang="en-US" sz="750" dirty="0"/>
          </a:p>
        </p:txBody>
      </p:sp>
      <p:sp>
        <p:nvSpPr>
          <p:cNvPr id="16" name="Text 13"/>
          <p:cNvSpPr/>
          <p:nvPr/>
        </p:nvSpPr>
        <p:spPr>
          <a:xfrm>
            <a:off x="7443788" y="3122890"/>
            <a:ext cx="6797397" cy="317183"/>
          </a:xfrm>
          <a:prstGeom prst="rect">
            <a:avLst/>
          </a:prstGeom>
          <a:noFill/>
          <a:ln/>
        </p:spPr>
        <p:txBody>
          <a:bodyPr wrap="square" lIns="0" tIns="0" rIns="0" bIns="0" rtlCol="0" anchor="t"/>
          <a:lstStyle/>
          <a:p>
            <a:pPr marL="0" indent="0" algn="l">
              <a:lnSpc>
                <a:spcPts val="1250"/>
              </a:lnSpc>
              <a:buNone/>
            </a:pPr>
            <a:r>
              <a:rPr lang="en-US" sz="750" dirty="0">
                <a:solidFill>
                  <a:srgbClr val="000000"/>
                </a:solidFill>
                <a:highlight>
                  <a:srgbClr val="81B61C"/>
                </a:highlight>
                <a:latin typeface="Syne" pitchFamily="34" charset="0"/>
                <a:ea typeface="Syne" pitchFamily="34" charset="-122"/>
                <a:cs typeface="Syne" pitchFamily="34" charset="-120"/>
              </a:rPr>
              <a:t>Technology should empower everyone, not create new barriers.</a:t>
            </a:r>
            <a:r>
              <a:rPr lang="en-US" sz="750" dirty="0">
                <a:solidFill>
                  <a:srgbClr val="D7E5D8"/>
                </a:solidFill>
                <a:latin typeface="Syne" pitchFamily="34" charset="0"/>
                <a:ea typeface="Syne" pitchFamily="34" charset="-122"/>
                <a:cs typeface="Syne" pitchFamily="34" charset="-120"/>
              </a:rPr>
              <a:t> By speaking your language, FarmSetu ensures that innovation reaches every corner of India's diverse agricultural landscape.</a:t>
            </a:r>
            <a:endParaRPr lang="en-US" sz="750" dirty="0"/>
          </a:p>
        </p:txBody>
      </p:sp>
      <p:sp>
        <p:nvSpPr>
          <p:cNvPr id="17" name="Shape 14"/>
          <p:cNvSpPr/>
          <p:nvPr/>
        </p:nvSpPr>
        <p:spPr>
          <a:xfrm>
            <a:off x="396835" y="8948663"/>
            <a:ext cx="13836729" cy="20003"/>
          </a:xfrm>
          <a:prstGeom prst="rect">
            <a:avLst/>
          </a:prstGeom>
          <a:solidFill>
            <a:srgbClr val="D7E5D8">
              <a:alpha val="50000"/>
            </a:srgbClr>
          </a:solidFill>
          <a:ln/>
        </p:spPr>
      </p:sp>
      <p:sp>
        <p:nvSpPr>
          <p:cNvPr id="18" name="Text 15"/>
          <p:cNvSpPr/>
          <p:nvPr/>
        </p:nvSpPr>
        <p:spPr>
          <a:xfrm>
            <a:off x="396835" y="9117449"/>
            <a:ext cx="4641652" cy="248007"/>
          </a:xfrm>
          <a:prstGeom prst="rect">
            <a:avLst/>
          </a:prstGeom>
          <a:noFill/>
          <a:ln/>
        </p:spPr>
        <p:txBody>
          <a:bodyPr wrap="none" lIns="0" tIns="0" rIns="0" bIns="0" rtlCol="0" anchor="t"/>
          <a:lstStyle/>
          <a:p>
            <a:pPr marL="0" indent="0" algn="l">
              <a:lnSpc>
                <a:spcPts val="1950"/>
              </a:lnSpc>
              <a:buNone/>
            </a:pPr>
            <a:r>
              <a:rPr lang="en-US" sz="1550" b="1" dirty="0">
                <a:solidFill>
                  <a:srgbClr val="F0F4F1"/>
                </a:solidFill>
                <a:latin typeface="Syne Extra Bold" pitchFamily="34" charset="0"/>
                <a:ea typeface="Syne Extra Bold" pitchFamily="34" charset="-122"/>
                <a:cs typeface="Syne Extra Bold" pitchFamily="34" charset="-120"/>
              </a:rPr>
              <a:t>Join the FarmSetu Revolution</a:t>
            </a:r>
            <a:endParaRPr lang="en-US" sz="1550" dirty="0"/>
          </a:p>
        </p:txBody>
      </p:sp>
      <p:sp>
        <p:nvSpPr>
          <p:cNvPr id="19" name="Text 16"/>
          <p:cNvSpPr/>
          <p:nvPr/>
        </p:nvSpPr>
        <p:spPr>
          <a:xfrm>
            <a:off x="396835" y="9514284"/>
            <a:ext cx="13836729" cy="317183"/>
          </a:xfrm>
          <a:prstGeom prst="rect">
            <a:avLst/>
          </a:prstGeom>
          <a:noFill/>
          <a:ln/>
        </p:spPr>
        <p:txBody>
          <a:bodyPr wrap="square" lIns="0" tIns="0" rIns="0" bIns="0" rtlCol="0" anchor="t"/>
          <a:lstStyle/>
          <a:p>
            <a:pPr marL="0" indent="0" algn="l">
              <a:lnSpc>
                <a:spcPts val="1250"/>
              </a:lnSpc>
              <a:buNone/>
            </a:pPr>
            <a:r>
              <a:rPr lang="en-US" sz="750" dirty="0">
                <a:solidFill>
                  <a:srgbClr val="D7E5D8"/>
                </a:solidFill>
                <a:latin typeface="Syne" pitchFamily="34" charset="0"/>
                <a:ea typeface="Syne" pitchFamily="34" charset="-122"/>
                <a:cs typeface="Syne" pitchFamily="34" charset="-120"/>
              </a:rPr>
              <a:t>FarmSetu represents more than just agricultural technology—it's a movement toward empowered, informed, and connected farming communities. By combining marketplace efficiency, expert knowledge, real-time intelligence, and AI-powered insights into one comprehensive platform, we're helping farmers make better decisions, increase profitability, and build sustainable agricultural futures.</a:t>
            </a:r>
            <a:endParaRPr lang="en-US" sz="750" dirty="0"/>
          </a:p>
        </p:txBody>
      </p:sp>
      <p:sp>
        <p:nvSpPr>
          <p:cNvPr id="20" name="Text 17"/>
          <p:cNvSpPr/>
          <p:nvPr/>
        </p:nvSpPr>
        <p:spPr>
          <a:xfrm>
            <a:off x="396835" y="9943028"/>
            <a:ext cx="13836729" cy="317183"/>
          </a:xfrm>
          <a:prstGeom prst="rect">
            <a:avLst/>
          </a:prstGeom>
          <a:noFill/>
          <a:ln/>
        </p:spPr>
        <p:txBody>
          <a:bodyPr wrap="square" lIns="0" tIns="0" rIns="0" bIns="0" rtlCol="0" anchor="t"/>
          <a:lstStyle/>
          <a:p>
            <a:pPr marL="0" indent="0" algn="l">
              <a:lnSpc>
                <a:spcPts val="1250"/>
              </a:lnSpc>
              <a:buNone/>
            </a:pPr>
            <a:r>
              <a:rPr lang="en-US" sz="750" b="1" dirty="0">
                <a:solidFill>
                  <a:srgbClr val="D7E5D8"/>
                </a:solidFill>
                <a:latin typeface="Syne" pitchFamily="34" charset="0"/>
                <a:ea typeface="Syne" pitchFamily="34" charset="-122"/>
                <a:cs typeface="Syne" pitchFamily="34" charset="-120"/>
              </a:rPr>
              <a:t>Whether you're a smallholder farmer managing a few acres or an agri-extension worker supporting entire communities, FarmSetu provides the digital tools you need to succeed in modern agriculture.</a:t>
            </a:r>
            <a:r>
              <a:rPr lang="en-US" sz="750" dirty="0">
                <a:solidFill>
                  <a:srgbClr val="D7E5D8"/>
                </a:solidFill>
                <a:latin typeface="Syne" pitchFamily="34" charset="0"/>
                <a:ea typeface="Syne" pitchFamily="34" charset="-122"/>
                <a:cs typeface="Syne" pitchFamily="34" charset="-120"/>
              </a:rPr>
              <a:t> Our platform grows with you, continuously adding new features and improving existing ones based on farmer feedback and technological advances.</a:t>
            </a:r>
            <a:endParaRPr lang="en-US" sz="750" dirty="0"/>
          </a:p>
        </p:txBody>
      </p:sp>
      <p:sp>
        <p:nvSpPr>
          <p:cNvPr id="21" name="Text 18"/>
          <p:cNvSpPr/>
          <p:nvPr/>
        </p:nvSpPr>
        <p:spPr>
          <a:xfrm>
            <a:off x="396835" y="10371773"/>
            <a:ext cx="13836729" cy="158591"/>
          </a:xfrm>
          <a:prstGeom prst="rect">
            <a:avLst/>
          </a:prstGeom>
          <a:noFill/>
          <a:ln/>
        </p:spPr>
        <p:txBody>
          <a:bodyPr wrap="none" lIns="0" tIns="0" rIns="0" bIns="0" rtlCol="0" anchor="t"/>
          <a:lstStyle/>
          <a:p>
            <a:pPr marL="0" indent="0" algn="l">
              <a:lnSpc>
                <a:spcPts val="1250"/>
              </a:lnSpc>
              <a:buNone/>
            </a:pPr>
            <a:r>
              <a:rPr lang="en-US" sz="750" dirty="0">
                <a:solidFill>
                  <a:srgbClr val="D7E5D8"/>
                </a:solidFill>
                <a:latin typeface="Syne" pitchFamily="34" charset="0"/>
                <a:ea typeface="Syne" pitchFamily="34" charset="-122"/>
                <a:cs typeface="Syne" pitchFamily="34" charset="-120"/>
              </a:rPr>
              <a:t>The future of Indian agriculture is digital, connected, and intelligent. Welcome to FarmSetu—where tradition meets innovation, and farmers lead the way forward.</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2057</Words>
  <Application>Microsoft Office PowerPoint</Application>
  <PresentationFormat>Custom</PresentationFormat>
  <Paragraphs>128</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Syne Extra Bold</vt:lpstr>
      <vt:lpstr>Syne</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Roshan Suthar</cp:lastModifiedBy>
  <cp:revision>1</cp:revision>
  <dcterms:created xsi:type="dcterms:W3CDTF">2025-12-14T04:45:24Z</dcterms:created>
  <dcterms:modified xsi:type="dcterms:W3CDTF">2025-12-14T04:46:39Z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name="NXPowerLiteLastOptimized" pid="2">
    <vt:lpwstr>1356726</vt:lpwstr>
  </property>
  <property fmtid="{D5CDD505-2E9C-101B-9397-08002B2CF9AE}" name="NXPowerLiteSettings" pid="3">
    <vt:lpwstr>F7000400038000</vt:lpwstr>
  </property>
  <property fmtid="{D5CDD505-2E9C-101B-9397-08002B2CF9AE}" name="NXPowerLiteVersion" pid="4">
    <vt:lpwstr>S10.9.4</vt:lpwstr>
  </property>
</Properties>
</file>